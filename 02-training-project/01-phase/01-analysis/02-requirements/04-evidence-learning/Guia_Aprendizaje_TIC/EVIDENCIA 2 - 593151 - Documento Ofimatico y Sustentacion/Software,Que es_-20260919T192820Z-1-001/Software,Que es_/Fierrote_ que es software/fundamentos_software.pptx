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457200"/>
            <a:ext cx="1645920" cy="36576"/>
          </a:xfrm>
          <a:prstGeom prst="rect">
            <a:avLst/>
          </a:prstGeom>
          <a:solidFill>
            <a:srgbClr val="4DE8D4"/>
          </a:solidFill>
          <a:ln w="12700">
            <a:solidFill>
              <a:srgbClr val="4DE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457200"/>
            <a:ext cx="36576" cy="731520"/>
          </a:xfrm>
          <a:prstGeom prst="rect">
            <a:avLst/>
          </a:prstGeom>
          <a:solidFill>
            <a:srgbClr val="4DE8D4"/>
          </a:solidFill>
          <a:ln w="12700">
            <a:solidFill>
              <a:srgbClr val="4DE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389120"/>
            <a:ext cx="1645920" cy="36576"/>
          </a:xfrm>
          <a:prstGeom prst="rect">
            <a:avLst/>
          </a:prstGeom>
          <a:solidFill>
            <a:srgbClr val="4DE8D4"/>
          </a:solidFill>
          <a:ln w="12700">
            <a:solidFill>
              <a:srgbClr val="4DE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3840480"/>
            <a:ext cx="36576" cy="594360"/>
          </a:xfrm>
          <a:prstGeom prst="rect">
            <a:avLst/>
          </a:prstGeom>
          <a:solidFill>
            <a:srgbClr val="4DE8D4"/>
          </a:solidFill>
          <a:ln w="12700">
            <a:solidFill>
              <a:srgbClr val="4DE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00C9B1">
              <a:alpha val="18000"/>
            </a:srgbClr>
          </a:solidFill>
          <a:ln w="12700">
            <a:solidFill>
              <a:srgbClr val="00C9B1">
                <a:alpha val="4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7373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Computacional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Esencia del Software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Universitario  ·  Programación Avanzada  ·  Ingeniería de Software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02920" cy="411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4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Dualidad: Hardware + Software + Humanware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4023360" cy="1371600"/>
          </a:xfrm>
          <a:prstGeom prst="rect">
            <a:avLst/>
          </a:prstGeom>
          <a:solidFill>
            <a:srgbClr val="1A2E5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13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SOFTWARE?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instrucciones que gobiernan una máquina programable. No es solo un programa: es la inteligencia que da propósito a cada circuito.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685800"/>
            <a:ext cx="4023360" cy="1371600"/>
          </a:xfrm>
          <a:prstGeom prst="rect">
            <a:avLst/>
          </a:prstGeom>
          <a:solidFill>
            <a:srgbClr val="1A2E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713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DUALIDAD INSEPARABLE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02412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hardware sin software es un teléfono muerto — instrucciones dirigidas a la nada. Juntos forman un sistema que cobra vida.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321040" cy="36576"/>
          </a:xfrm>
          <a:prstGeom prst="rect">
            <a:avLst/>
          </a:prstGeom>
          <a:solidFill>
            <a:srgbClr val="4DE8D4">
              <a:alpha val="50000"/>
            </a:srgbClr>
          </a:solidFill>
          <a:ln w="12700">
            <a:solidFill>
              <a:srgbClr val="4DE8D4">
                <a:alpha val="5000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04288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23042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HUMANWARE: El Tercer Pilar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computacional solo adquiere propósito real con la presencia y la intención humana. Sin usuarios, sin programadores, la máquina no es más que silicio y corriente.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3246120"/>
            <a:ext cx="54864" cy="7315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291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software es la parte invisible que hace visible todo lo demás."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97280" y="4160520"/>
            <a:ext cx="1417320" cy="658368"/>
          </a:xfrm>
          <a:prstGeom prst="ellipse">
            <a:avLst/>
          </a:prstGeom>
          <a:solidFill>
            <a:srgbClr val="1A2E50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41879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97280" y="44805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tangible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931920" y="4160520"/>
            <a:ext cx="1417320" cy="658368"/>
          </a:xfrm>
          <a:prstGeom prst="ellipse">
            <a:avLst/>
          </a:prstGeom>
          <a:solidFill>
            <a:srgbClr val="1A2E50"/>
          </a:solidFill>
          <a:ln w="25400">
            <a:solidFill>
              <a:srgbClr val="00C9B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31920" y="41879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931920" y="44805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invisible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583680" y="4160520"/>
            <a:ext cx="1417320" cy="658368"/>
          </a:xfrm>
          <a:prstGeom prst="ellipse">
            <a:avLst/>
          </a:prstGeom>
          <a:solidFill>
            <a:srgbClr val="1A2E5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0" y="41879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HUMANWARE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583680" y="44805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propósito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514600" y="4489704"/>
            <a:ext cx="1417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5349240" y="4489704"/>
            <a:ext cx="1234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02920" cy="411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4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Técnica del Software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2651760" cy="4206240"/>
          </a:xfrm>
          <a:prstGeom prst="rect">
            <a:avLst/>
          </a:prstGeom>
          <a:solidFill>
            <a:srgbClr val="1A2E50"/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265176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841248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SISTEMA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1965960"/>
            <a:ext cx="2103120" cy="0"/>
          </a:xfrm>
          <a:prstGeom prst="line">
            <a:avLst/>
          </a:prstGeom>
          <a:noFill/>
          <a:ln w="10160">
            <a:solidFill>
              <a:srgbClr val="00C9B1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05740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y administra los recursos del hardware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 como intermediario entre usuario y máquina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Windows, Android, iOS, Linux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él, la máquina no tiene lenguaje propio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685800"/>
            <a:ext cx="2651760" cy="4206240"/>
          </a:xfrm>
          <a:prstGeom prst="rect">
            <a:avLst/>
          </a:prstGeom>
          <a:solidFill>
            <a:srgbClr val="1A2E5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68580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841248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APLICACIÓN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429000" y="1965960"/>
            <a:ext cx="2103120" cy="0"/>
          </a:xfrm>
          <a:prstGeom prst="line">
            <a:avLst/>
          </a:prstGeom>
          <a:noFill/>
          <a:ln w="1016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91840" y="205740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necesidades específicas del usuario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sobre la capa del S.O.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VS Code, Photoshop, videojuegos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entre el humano y el propósito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80760" y="685800"/>
            <a:ext cx="2651760" cy="4206240"/>
          </a:xfrm>
          <a:prstGeom prst="rect">
            <a:avLst/>
          </a:prstGeom>
          <a:solidFill>
            <a:srgbClr val="1A2E50"/>
          </a:solidFill>
          <a:ln w="19050">
            <a:solidFill>
              <a:srgbClr val="4DE8D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0760" y="685800"/>
            <a:ext cx="2651760" cy="54864"/>
          </a:xfrm>
          <a:prstGeom prst="rect">
            <a:avLst/>
          </a:prstGeom>
          <a:solidFill>
            <a:srgbClr val="4DE8D4"/>
          </a:solidFill>
          <a:ln w="12700">
            <a:solidFill>
              <a:srgbClr val="4DE8D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841248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PROGRAMACIÓN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355080" y="1965960"/>
            <a:ext cx="2103120" cy="0"/>
          </a:xfrm>
          <a:prstGeom prst="line">
            <a:avLst/>
          </a:prstGeom>
          <a:noFill/>
          <a:ln w="10160">
            <a:solidFill>
              <a:srgbClr val="4DE8D4">
                <a:alpha val="6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217920" y="205740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 los programadores crear más software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Compiladores, intérpretes, IDEs, depuradores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GCC, JVM, Python Runtime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que construye software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Toda aplicación que usas fue construida usando las tres categorías simultáneamente.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02920" cy="411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4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Naturaleza 'Invisible' del Software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4572000" cy="2514600"/>
          </a:xfrm>
          <a:prstGeom prst="rect">
            <a:avLst/>
          </a:prstGeom>
          <a:solidFill>
            <a:srgbClr val="1A2E5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TAN DIFÍCIL DE CONSTRUIR?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rige por leyes físicas: sin gravedad, sin electricidad medible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invisible e invisualizable — no puedes "ver" el avance como en un edificio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calidad no se mide con reglas ni balanzas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la construcción, casi no hay dos partes iguales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74920" y="658368"/>
            <a:ext cx="3840480" cy="2514600"/>
          </a:xfrm>
          <a:prstGeom prst="rect">
            <a:avLst/>
          </a:prstGeom>
          <a:solidFill>
            <a:srgbClr val="1A2E50"/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685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ESENCIAL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66360" y="1051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Brooks (1987) distinguió dos tipos de complejidad: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Esencial: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inherente al dominio del problema. No eliminable.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Accidental: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las herramientas y procesos que usamos. Reducible.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25420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complejidad esencial es la que nos desafía como ingenieros.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337560"/>
            <a:ext cx="8686800" cy="36576"/>
          </a:xfrm>
          <a:prstGeom prst="rect">
            <a:avLst/>
          </a:prstGeom>
          <a:solidFill>
            <a:srgbClr val="4DE8D4">
              <a:alpha val="40000"/>
            </a:srgbClr>
          </a:solidFill>
          <a:ln w="12700">
            <a:solidFill>
              <a:srgbClr val="4DE8D4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43814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COMPARACIÓN: Construir vs. Cultivar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767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Edificio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389534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376732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definen el 80% del resultado final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41696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40416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cambian mientras construyes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315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Ladrillo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444398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43159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reutilizable, idéntico siempre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590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Módulo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471830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459028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 al contexto; raramente igual a otro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02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4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Histórica y la Crisis del Software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731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'Crisis del Software' — Finales de los años 60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1417320"/>
            <a:ext cx="2560320" cy="1417320"/>
          </a:xfrm>
          <a:prstGeom prst="rect">
            <a:avLst/>
          </a:prstGeom>
          <a:solidFill>
            <a:srgbClr val="1A2E5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4813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457200" y="2176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proyectos llegaban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 o sobre presupuesto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54680" y="1417320"/>
            <a:ext cx="2560320" cy="1417320"/>
          </a:xfrm>
          <a:prstGeom prst="rect">
            <a:avLst/>
          </a:prstGeom>
          <a:solidFill>
            <a:srgbClr val="1A2E5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54680" y="14813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3246120" y="2176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sistemas nunca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llegaron a entregarse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0" y="1417320"/>
            <a:ext cx="2560320" cy="1417320"/>
          </a:xfrm>
          <a:prstGeom prst="rect">
            <a:avLst/>
          </a:prstGeom>
          <a:solidFill>
            <a:srgbClr val="1A2E5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14813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6035040" y="2176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década en que 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acuñó el término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2971800"/>
            <a:ext cx="8595360" cy="1261872"/>
          </a:xfrm>
          <a:prstGeom prst="rect">
            <a:avLst/>
          </a:prstGeom>
          <a:solidFill>
            <a:srgbClr val="1A2E50"/>
          </a:solidFill>
          <a:ln w="12700">
            <a:solidFill>
              <a:srgbClr val="4DE8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2971800"/>
            <a:ext cx="73152" cy="12618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2999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Brooks — "No Silver Bullet" (1987)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33101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hay balas de plata — ninguna tecnología por sí sola eliminará la dificultad intrínseca de diseñar software complejo."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vigente: La solución no es una herramienta mágica. Es proceso, disciplina y pensamiento ingenieril.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02920" cy="411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4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Modernas de Ingeniería de Software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68580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7132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Integración y Despliegue Continuos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8595360" cy="1508760"/>
          </a:xfrm>
          <a:prstGeom prst="rect">
            <a:avLst/>
          </a:prstGeom>
          <a:solidFill>
            <a:srgbClr val="1A2E5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234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pPr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48640" y="2029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/ KLOC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63440" y="1234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ENTREGA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6344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sem</a:t>
            </a:r>
            <a:pPr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663440" y="2029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al mercado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0040" y="281635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automatización de pruebas y despliegues reduce errores humanos y libera a los ingenieros para resolver problemas de mayor valor.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310128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3337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Colaborativo — Herramientas como COMA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274320" y="3794760"/>
            <a:ext cx="8595360" cy="960120"/>
          </a:xfrm>
          <a:prstGeom prst="rect">
            <a:avLst/>
          </a:prstGeom>
          <a:solidFill>
            <a:srgbClr val="1A2E50"/>
          </a:solidFill>
          <a:ln w="12700">
            <a:solidFill>
              <a:srgbClr val="4DE8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a equipos distribuidos negociar y construir modelos UML de forma conjunta y en tiempo real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el diseño inicial detectando inconsistencias antes de escribir la primera línea de código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nace mejor cuando se diseña entre varios: la colaboración es una herramienta de calidad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11480"/>
            <a:ext cx="2194560" cy="2194560"/>
          </a:xfrm>
          <a:prstGeom prst="ellipse">
            <a:avLst/>
          </a:prstGeom>
          <a:solidFill>
            <a:srgbClr val="00C9B1">
              <a:alpha val="12000"/>
            </a:srgbClr>
          </a:solidFill>
          <a:ln w="12700">
            <a:solidFill>
              <a:srgbClr val="00C9B1">
                <a:alpha val="4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858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No Se Fabrica.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33649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Construye. Se Cultiva. Se Evoluciona.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3950208"/>
            <a:ext cx="274320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69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ingenieros de software, somos los únicos artesanos que construimos con pensamiento puro.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" y="46817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1A2E5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Dualidad Hardware/Software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965960" y="46817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1A2E5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6596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Técnica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703320" y="46817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1A2E5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0332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Esencial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40680" y="46817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1A2E5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del Software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178040" y="468172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1A2E5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COMA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del Sistema Computacional</dc:title>
  <dc:subject>PptxGenJS Presentation</dc:subject>
  <dc:creator>PptxGenJS</dc:creator>
  <cp:lastModifiedBy>PptxGenJS</cp:lastModifiedBy>
  <cp:revision>1</cp:revision>
  <dcterms:created xsi:type="dcterms:W3CDTF">2026-05-19T20:27:00Z</dcterms:created>
  <dcterms:modified xsi:type="dcterms:W3CDTF">2026-05-19T20:27:00Z</dcterms:modified>
</cp:coreProperties>
</file>