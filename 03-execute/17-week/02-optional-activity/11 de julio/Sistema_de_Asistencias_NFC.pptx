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Presente</c:v>
                </c:pt>
              </c:strCache>
            </c:strRef>
          </c:tx>
          <c:spPr>
            <a:solidFill>
              <a:srgbClr val="39A9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38</c:v>
                </c:pt>
                <c:pt idx="2">
                  <c:v>35</c:v>
                </c:pt>
                <c:pt idx="3">
                  <c:v>37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0-43FF-AC0E-9D3DF1BEC0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Retardo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B0-43FF-AC0E-9D3DF1BEC0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Ausente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B0-43FF-AC0E-9D3DF1BEC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9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0D-452D-9627-A34AA83666E9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0D-452D-9627-A34AA83666E9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0D-452D-9627-A34AA83666E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0D-452D-9627-A34AA83666E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0D-452D-9627-A34AA83666E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0D-452D-9627-A34AA83666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Presente</c:v>
                </c:pt>
                <c:pt idx="1">
                  <c:v>Retardo</c:v>
                </c:pt>
                <c:pt idx="2">
                  <c:v>Ausente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0D-452D-9627-A34AA8366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Asistencia</c:v>
                </c:pt>
              </c:strCache>
            </c:strRef>
          </c:tx>
          <c:spPr>
            <a:ln w="25400" cap="flat">
              <a:solidFill>
                <a:srgbClr val="39A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9A900"/>
              </a:solidFill>
              <a:ln w="9525" cap="flat">
                <a:solidFill>
                  <a:srgbClr val="39A9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93</c:v>
                </c:pt>
                <c:pt idx="2">
                  <c:v>89</c:v>
                </c:pt>
                <c:pt idx="3">
                  <c:v>95</c:v>
                </c:pt>
                <c:pt idx="4">
                  <c:v>92</c:v>
                </c:pt>
                <c:pt idx="5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09-4682-9B39-5D4933C1B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Asistencia</c:v>
                </c:pt>
              </c:strCache>
            </c:strRef>
          </c:tx>
          <c:spPr>
            <a:solidFill>
              <a:srgbClr val="39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ADSO</c:v>
                </c:pt>
                <c:pt idx="1">
                  <c:v>TeSis</c:v>
                </c:pt>
                <c:pt idx="2">
                  <c:v>Multimedia</c:v>
                </c:pt>
                <c:pt idx="3">
                  <c:v>Contabilidad</c:v>
                </c:pt>
                <c:pt idx="4">
                  <c:v>Gestión Doc.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91</c:v>
                </c:pt>
                <c:pt idx="2">
                  <c:v>89</c:v>
                </c:pt>
                <c:pt idx="3">
                  <c:v>93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3E-4742-98C5-A1C591C9CA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18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chart" Target="../charts/chart1.xml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39A900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1828800" y="4754880"/>
            <a:ext cx="4206240" cy="4206240"/>
          </a:xfrm>
          <a:prstGeom prst="ellipse">
            <a:avLst/>
          </a:prstGeom>
          <a:solidFill>
            <a:srgbClr val="39A900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ifi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ADSO 3413974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Asistencias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tecnología NFC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66928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rápido, seguro y automatizado — el instructor supervisa, el aprendiz gestiona su propio registro.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sena-ppt/icons/signin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17477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instructores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3308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idcard_darker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940" y="5174772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carnet NFC o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9924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home/claude/sena-ppt/icons/clipboard_darker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100" y="5174772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0216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reportes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66928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 tecnológica  ·  Julián Torres Fierro &amp; Juan David Gómez Martínez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 actual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registro de asistencia consume tiempo de formación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715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manifiesta inconformidad con el tiempo que se pierde registrando la asistencia mediante SENA Sofía Plus, reduciendo el tiempo disponible para el desarrollo de la formación.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1097280" y="4361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efectivo de clase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93776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1097280" y="4773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y repetitivo cada sesión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534924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1097280" y="5184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errores de digitación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1600200"/>
            <a:ext cx="4370832" cy="4206240"/>
          </a:xfrm>
          <a:prstGeom prst="roundRect">
            <a:avLst>
              <a:gd name="adj" fmla="val 1739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763524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warning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61" y="213238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248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Plus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directa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3524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Tiempo de formación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63524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perdido en cada sesión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635240" y="434340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pasa de un trámite administrativo a un proceso automático que no interrumpe la clase.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65960"/>
            <a:ext cx="9326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que permita registrar la asistencia de forma rápida y segura mediante tecnología NFC, permitiendo que cada aprendiz gestione su propio registro mientras el instructor supervisa el proceso.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80467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sena-ppt/icons/sign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4267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Rapidez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0467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NFC en menos de 1 segundo por aprendiz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3756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359359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993" y="442679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9359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59359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único, sesiones controladas y auditoría completa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2648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638251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/home/claude/sena-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42679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251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Autogestión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8251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registra su asistencia sin intervención manual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91540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917143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4" descr="/home/claude/sena-ppt/icons/teach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833" y="442679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7143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Supervisión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17143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mantiene el control total del proceso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propuesta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que permite registrar la asistencia mediante carnets NFC, reduciendo el tiempo de toma de asistencia y manteniendo el control del instructor.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2368296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sena-ppt/icons/sign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51569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instructores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382512" y="2368296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5156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14884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de sesiones de asistencia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713232" y="3575304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id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72270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3558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mediante carnet NFC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355848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6382512" y="3575304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/home/claude/sena-ppt/icons/mob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3722705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3558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NFC dedicado o móvil como escáner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713232" y="478231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home/claude/sena-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4929713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562856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registro por aprendiz por sesión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562856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19"/>
          <p:cNvSpPr/>
          <p:nvPr/>
        </p:nvSpPr>
        <p:spPr>
          <a:xfrm>
            <a:off x="6382512" y="478231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5" descr="/home/claude/sena-ppt/icons/clipboar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913" y="4929713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4562856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para casos excepcionales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48640" y="5769864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2"/>
          <p:cNvSpPr/>
          <p:nvPr/>
        </p:nvSpPr>
        <p:spPr>
          <a:xfrm>
            <a:off x="713232" y="59893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6" descr="/home/claude/sena-ppt/icons/histor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633" y="6136721"/>
            <a:ext cx="272125" cy="2721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17320" y="5769864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generación de reportes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217920" y="5769864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25"/>
          <p:cNvSpPr/>
          <p:nvPr/>
        </p:nvSpPr>
        <p:spPr>
          <a:xfrm>
            <a:off x="6382512" y="59893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5" name="Image 7" descr="/home/claude/sena-ppt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9913" y="6136721"/>
            <a:ext cx="272125" cy="2721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86600" y="5769864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trazabilidad del proceso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general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997964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159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 Web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51560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/ finalizar sesiones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51560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registros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1051560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registros manuales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1051560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 y reportes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53218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051560" y="5166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del sistema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97096" y="3794760"/>
            <a:ext cx="274320" cy="22860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471416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5920740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1" descr="/home/claude/sena-ppt/icons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935" y="2156155"/>
            <a:ext cx="351130" cy="3511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54296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de Registro NFC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791456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4974336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inicial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91456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4974336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carnet NFC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91456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4"/>
          <p:cNvSpPr/>
          <p:nvPr/>
        </p:nvSpPr>
        <p:spPr>
          <a:xfrm>
            <a:off x="4974336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móvil NFC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91456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/>
          <p:nvPr/>
        </p:nvSpPr>
        <p:spPr>
          <a:xfrm>
            <a:off x="4974336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autoservicio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19872" y="3794760"/>
            <a:ext cx="274320" cy="22860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8"/>
          <p:cNvSpPr/>
          <p:nvPr/>
        </p:nvSpPr>
        <p:spPr>
          <a:xfrm>
            <a:off x="8394192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9"/>
          <p:cNvSpPr/>
          <p:nvPr/>
        </p:nvSpPr>
        <p:spPr>
          <a:xfrm>
            <a:off x="9843516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2" descr="/home/claude/sena-ppt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711" y="2156155"/>
            <a:ext cx="351130" cy="35113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577072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8714232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2"/>
          <p:cNvSpPr/>
          <p:nvPr/>
        </p:nvSpPr>
        <p:spPr>
          <a:xfrm>
            <a:off x="8897112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e instructores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714232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4"/>
          <p:cNvSpPr/>
          <p:nvPr/>
        </p:nvSpPr>
        <p:spPr>
          <a:xfrm>
            <a:off x="8897112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y competencias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8714232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6"/>
          <p:cNvSpPr/>
          <p:nvPr/>
        </p:nvSpPr>
        <p:spPr>
          <a:xfrm>
            <a:off x="8897112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y registros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714232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38"/>
          <p:cNvSpPr/>
          <p:nvPr/>
        </p:nvSpPr>
        <p:spPr>
          <a:xfrm>
            <a:off x="8897112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NFC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8714232" y="53218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0"/>
          <p:cNvSpPr/>
          <p:nvPr/>
        </p:nvSpPr>
        <p:spPr>
          <a:xfrm>
            <a:off x="8897112" y="5166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del sistema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Inicio de sesión de asistencia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58368" y="15910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teacher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1695663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087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instructor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22128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99232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864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29260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ficha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712464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48640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4128" y="3639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competencia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25696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548640" y="4425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35254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tiempo de tolerancia (10 min. por defecto)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54864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24128" y="50657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sesión de asistencia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150876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6419088" y="15910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1" descr="/home/claude/sena-ppt/icons/cogs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1695663"/>
            <a:ext cx="193121" cy="19312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31152" y="15087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6309360" y="2286000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4"/>
          <p:cNvSpPr/>
          <p:nvPr/>
        </p:nvSpPr>
        <p:spPr>
          <a:xfrm>
            <a:off x="630936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84848" y="22128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sesión de asistencia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309360" y="2999232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630936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784848" y="29260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lector NFC o el móvil como escáner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309360" y="3712464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0"/>
          <p:cNvSpPr/>
          <p:nvPr/>
        </p:nvSpPr>
        <p:spPr>
          <a:xfrm>
            <a:off x="6309360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784848" y="3639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como Presente dentro del tiempo de tolerancia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309360" y="4425696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3"/>
          <p:cNvSpPr/>
          <p:nvPr/>
        </p:nvSpPr>
        <p:spPr>
          <a:xfrm>
            <a:off x="6309360" y="4425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784848" y="435254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como Retardo fuera del tiempo de tolerancia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309360" y="5138928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6"/>
          <p:cNvSpPr/>
          <p:nvPr/>
        </p:nvSpPr>
        <p:spPr>
          <a:xfrm>
            <a:off x="630936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784848" y="50657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 automáticamente al cumplirse la jornada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inicial del aprendiz (enrolamiento NFC)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único por aprendiz, para asociar un identificador NFC (carnet o móvil) a su cuenta.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351483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51483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2611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0" descr="/home/claude/sena-ppt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30925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Ingresa nombre y documento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aporta sus datos de identificación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74950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2812694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3615538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3615538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96666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30925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49854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valida la información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49854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existencia del aprendiz en la base de datos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839005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5076749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5879592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5879592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2" descr="/home/claude/sena-ppt/icons/wif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141" y="3092501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13909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Acerca su carnet o móvil NFC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13909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es leído por el lector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103059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4"/>
          <p:cNvSpPr/>
          <p:nvPr/>
        </p:nvSpPr>
        <p:spPr>
          <a:xfrm>
            <a:off x="7340803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8143646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6"/>
          <p:cNvSpPr/>
          <p:nvPr/>
        </p:nvSpPr>
        <p:spPr>
          <a:xfrm>
            <a:off x="8143646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8024774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3" descr="/home/claude/sena-ppt/icons/fingerpri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195" y="3092501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77963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 unicidad del identificador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477963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asociarlo a más de un aprendiz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367114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1"/>
          <p:cNvSpPr/>
          <p:nvPr/>
        </p:nvSpPr>
        <p:spPr>
          <a:xfrm>
            <a:off x="9604858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2"/>
          <p:cNvSpPr/>
          <p:nvPr/>
        </p:nvSpPr>
        <p:spPr>
          <a:xfrm>
            <a:off x="10407701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10407701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10288829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4" descr="/home/claude/sena-ppt/icons/user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250" y="3092501"/>
            <a:ext cx="307238" cy="30723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742018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 el registro exitoso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742018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queda vinculado al aprendiz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Estados de asistencia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 según la hora de registro y el tiempo de tolerancia configurado por el instructor.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09728"/>
          </a:xfrm>
          <a:prstGeom prst="roundRect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897380" y="2331720"/>
            <a:ext cx="868680" cy="86868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/home/claude/sena-ppt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237" y="255757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registra la asistencia dentro del tiempo de tolerancia establecido.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566160" cy="109728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5646420" y="2331720"/>
            <a:ext cx="868680" cy="86868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/home/claude/sena-ppt/icons/clo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277" y="25575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Retardo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1772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posterior al tiempo de tolerancia. El sistema calcula el tiempo de retraso y las horas perdidas según la política institucional.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8046720" y="1965960"/>
            <a:ext cx="3566160" cy="109728"/>
          </a:xfrm>
          <a:prstGeom prst="round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9395460" y="2331720"/>
            <a:ext cx="868680" cy="8686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2" descr="/home/claude/sena-ppt/icons/usertimes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317" y="255757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Ausente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6676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no registra asistencia antes del cierre de la sesión; el sistema lo marca automáticamente.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Identificación y cierre de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de identificación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21792" cy="621792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sena-ppt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49338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institucional NFC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624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física entregada al aprendiz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621792" cy="621792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6" y="3362066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182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móvil NFC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45920" y="3493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Previamente registrado mediante enrolamiento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8680" y="411480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868680" y="4297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métodos son credenciales válidas y equivalentes para el registro de asistencia.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 automático de sesión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configurable entre 5h30 y 6h según la programación académica.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37960" y="2743200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6"/>
          <p:cNvSpPr/>
          <p:nvPr/>
        </p:nvSpPr>
        <p:spPr>
          <a:xfrm>
            <a:off x="653796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49440" y="267919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sesión de asistencia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37960" y="3310128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6537960" y="3310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949440" y="324612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nuevos registros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37960" y="3877056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653796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49440" y="381304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Ausente a quien no registró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37960" y="4443984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537960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949440" y="43799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la información de la sesión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537960" y="5010912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/>
          <p:nvPr/>
        </p:nvSpPr>
        <p:spPr>
          <a:xfrm>
            <a:off x="6537960" y="5010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949440" y="494690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reportes e historiales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 y gestión de retardos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casos excepcionales: olvido o daño del carnet, o falla del lector NFC / móvil.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61872" y="30083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selecciona al aprendiz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630168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22960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61872" y="357530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manualmente la asistencia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197096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822960" y="4197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261872" y="414223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motivo del registro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261872" y="470916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almacena instructor, fecha y hora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1925726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7804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retardos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registro ocurre después del tiempo de tolerancia.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92240" y="3072384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6720840" y="2926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automáticamente el registro como Retardo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92240" y="3557016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720840" y="34107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tiempo de retraso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492240" y="40416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6720840" y="38953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las horas de formación perdidas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92240" y="4526280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9"/>
          <p:cNvSpPr/>
          <p:nvPr/>
        </p:nvSpPr>
        <p:spPr>
          <a:xfrm>
            <a:off x="6720840" y="437997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la información en el historial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492240" y="5010912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1"/>
          <p:cNvSpPr/>
          <p:nvPr/>
        </p:nvSpPr>
        <p:spPr>
          <a:xfrm>
            <a:off x="6720840" y="48646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puede modificar el estado con justificación válida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trazabilidad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fingerprint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21371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único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aprendiz solo puede registrar una asistencia por sesión.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6012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duplicados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96012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manipulación de estadísticas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57200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1" descr="/home/claude/sena-ppt/icons/lock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176" y="213713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sesiones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7200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registran asistencias mientras la sesión permanece activa.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475488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fuera de horario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475488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tras el cierre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836676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2" descr="/home/claude/sena-ppt/icons/history_darker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936" y="2137136"/>
            <a:ext cx="316017" cy="31601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Auditoría de registros manuales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36676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manual queda registrada en su totalidad.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6676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/>
          <p:nvPr/>
        </p:nvSpPr>
        <p:spPr>
          <a:xfrm>
            <a:off x="854964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Instructor, fecha y hora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36676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5"/>
          <p:cNvSpPr/>
          <p:nvPr/>
        </p:nvSpPr>
        <p:spPr>
          <a:xfrm>
            <a:off x="854964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del registro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Riesgos identificados y soluciones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18498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Olvido del carnet NFC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22677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5156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autorizado por el instructor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336792" y="17190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84983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64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del carnet NFC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91656" y="22677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667512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autorizado por el instructor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260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713232" y="30906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2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22143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358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del lector NFC o del móvil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68096" y="36393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6"/>
          <p:cNvSpPr/>
          <p:nvPr/>
        </p:nvSpPr>
        <p:spPr>
          <a:xfrm>
            <a:off x="1051560" y="34930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el registro mediante el mecanismo manual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29260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6336792" y="30906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3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3221431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0358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de registrar dos veces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391656" y="36393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1"/>
          <p:cNvSpPr/>
          <p:nvPr/>
        </p:nvSpPr>
        <p:spPr>
          <a:xfrm>
            <a:off x="6675120" y="34930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rechaza registros duplicados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2976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713232" y="4462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4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4593031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407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que llega tarde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68096" y="50109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6"/>
          <p:cNvSpPr/>
          <p:nvPr/>
        </p:nvSpPr>
        <p:spPr>
          <a:xfrm>
            <a:off x="1051560" y="48646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 como Retardo; el instructor puede justificar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72200" y="42976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28"/>
          <p:cNvSpPr/>
          <p:nvPr/>
        </p:nvSpPr>
        <p:spPr>
          <a:xfrm>
            <a:off x="6336792" y="4462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5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4593031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95160" y="4407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ya asociado a otro aprendiz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391656" y="50109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1"/>
          <p:cNvSpPr/>
          <p:nvPr/>
        </p:nvSpPr>
        <p:spPr>
          <a:xfrm>
            <a:off x="6675120" y="48646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rechaza el registro e informa el conflicto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tasks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836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0594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sign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193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y control del instructor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3152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Iniciar/finalizar sesión, tolerancia configurable, autenticación.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9768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48056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sena-ppt/icons/id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3193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NFC del aprendiz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48056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automática, fecha/hora, confirmación, un único registro.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4672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822960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sena-ppt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31939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Estados y cálculos automáticos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/ Retardo / Ausente, tiempo de retraso, horas perdidas.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" y="52513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 y excepciones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del registro, continuidad ante fallas del lector.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29768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448056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sena-ppt/icons/fingerprin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1319" y="52513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8056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Enrolamiento NFC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48056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aprendiz, unicidad del identificador, vinculación.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804672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822960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home/claude/sena-ppt/icons/cha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0359" y="525139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2960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e historiales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822960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ficha, aprendiz y fecha; medio de registro utilizado.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no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shield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836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81051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1568196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842" y="322417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1 segundo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5800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lectura NFC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00984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320540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sena-ppt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186" y="322417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38144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99%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438144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lecturas NFC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53328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7072884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sena-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530" y="322417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0488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aprendices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190488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degradar el rendimiento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805672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9825228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7874" y="322417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42832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autorizados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942832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Inicio/fin de sesión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1568196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sena-ppt/icons/histo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842" y="537301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Auditoría total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85800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y cambios NFC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300984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4320540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home/claude/sena-ppt/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3186" y="5373014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438144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seguros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3438144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protegido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053328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1"/>
          <p:cNvSpPr/>
          <p:nvPr/>
        </p:nvSpPr>
        <p:spPr>
          <a:xfrm>
            <a:off x="7072884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7" descr="/home/claude/sena-ppt/icons/fingerprin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5530" y="5373014"/>
            <a:ext cx="263347" cy="26334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190488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Identificador único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6190488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NFC, un solo aprendiz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805672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35"/>
          <p:cNvSpPr/>
          <p:nvPr/>
        </p:nvSpPr>
        <p:spPr>
          <a:xfrm>
            <a:off x="9825228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6" name="Image 8" descr="/home/claude/sena-ppt/icons/cog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7874" y="5373014"/>
            <a:ext cx="263347" cy="26334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42832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8942832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estados en vivo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27609" y="667717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principal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asistencias.sena.edu.co /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1737360" cy="4544568"/>
          </a:xfrm>
          <a:prstGeom prst="rect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737360" cy="457200"/>
          </a:xfrm>
          <a:prstGeom prst="rect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0" descr="/home/claude/sena-ppt/icons/signin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96" y="2307580"/>
            <a:ext cx="158008" cy="1580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220370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" y="2788920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96" y="2874508"/>
            <a:ext cx="158008" cy="1580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0432" y="27706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49808" y="3355848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2" descr="/home/claude/sena-ppt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96" y="3441436"/>
            <a:ext cx="158008" cy="1580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33756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49808" y="3922776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3" descr="/home/claude/sena-ppt/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96" y="4008364"/>
            <a:ext cx="158008" cy="1580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70432" y="390448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9808" y="4489704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96" y="4575292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44714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749808" y="5056632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/home/claude/sena-ppt/icons/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96" y="5142220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70432" y="503834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514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2679192" y="2157984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home/claude/sena-ppt/icons/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2276856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291840" y="220370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38/40</a:t>
            </a:r>
            <a:endParaRPr lang="en-US" sz="2200" dirty="0"/>
          </a:p>
        </p:txBody>
      </p:sp>
      <p:sp>
        <p:nvSpPr>
          <p:cNvPr id="35" name="Text 26"/>
          <p:cNvSpPr/>
          <p:nvPr/>
        </p:nvSpPr>
        <p:spPr>
          <a:xfrm>
            <a:off x="2679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hoy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800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28"/>
          <p:cNvSpPr/>
          <p:nvPr/>
        </p:nvSpPr>
        <p:spPr>
          <a:xfrm>
            <a:off x="4965192" y="2157984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7" descr="/home/claude/sena-ppt/icons/clo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276856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32120" y="219456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0"/>
          <p:cNvSpPr/>
          <p:nvPr/>
        </p:nvSpPr>
        <p:spPr>
          <a:xfrm>
            <a:off x="4965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retardo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7086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32"/>
          <p:cNvSpPr/>
          <p:nvPr/>
        </p:nvSpPr>
        <p:spPr>
          <a:xfrm>
            <a:off x="7251192" y="2157984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3" name="Image 8" descr="/home/claude/sena-ppt/icons/usertimes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0064" y="2276856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842380" y="219456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200" dirty="0"/>
          </a:p>
        </p:txBody>
      </p:sp>
      <p:sp>
        <p:nvSpPr>
          <p:cNvPr id="45" name="Text 34"/>
          <p:cNvSpPr/>
          <p:nvPr/>
        </p:nvSpPr>
        <p:spPr>
          <a:xfrm>
            <a:off x="7251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9372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36"/>
          <p:cNvSpPr/>
          <p:nvPr/>
        </p:nvSpPr>
        <p:spPr>
          <a:xfrm>
            <a:off x="9537192" y="2157984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8" name="Image 9" descr="/home/claude/sena-ppt/icons/cogs_dark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6064" y="2276856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158984" y="2208276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</a:t>
            </a:r>
            <a:endParaRPr lang="en-US" sz="2200" dirty="0"/>
          </a:p>
        </p:txBody>
      </p:sp>
      <p:sp>
        <p:nvSpPr>
          <p:cNvPr id="50" name="Text 38"/>
          <p:cNvSpPr/>
          <p:nvPr/>
        </p:nvSpPr>
        <p:spPr>
          <a:xfrm>
            <a:off x="9537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activa</a:t>
            </a:r>
            <a:endParaRPr lang="en-US" sz="1050" dirty="0"/>
          </a:p>
        </p:txBody>
      </p:sp>
      <p:sp>
        <p:nvSpPr>
          <p:cNvPr id="51" name="Shape 39"/>
          <p:cNvSpPr/>
          <p:nvPr/>
        </p:nvSpPr>
        <p:spPr>
          <a:xfrm>
            <a:off x="2514600" y="3090672"/>
            <a:ext cx="55321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40"/>
          <p:cNvSpPr/>
          <p:nvPr/>
        </p:nvSpPr>
        <p:spPr>
          <a:xfrm>
            <a:off x="2697480" y="31821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por ficha — semana actual</a:t>
            </a:r>
            <a:endParaRPr lang="en-US" sz="1050" dirty="0"/>
          </a:p>
        </p:txBody>
      </p:sp>
      <p:graphicFrame>
        <p:nvGraphicFramePr>
          <p:cNvPr id="53" name="Chart 0"/>
          <p:cNvGraphicFramePr/>
          <p:nvPr/>
        </p:nvGraphicFramePr>
        <p:xfrm>
          <a:off x="2651760" y="3456432"/>
          <a:ext cx="5257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4" name="Shape 41"/>
          <p:cNvSpPr/>
          <p:nvPr/>
        </p:nvSpPr>
        <p:spPr>
          <a:xfrm>
            <a:off x="8183880" y="3090672"/>
            <a:ext cx="30175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42"/>
          <p:cNvSpPr/>
          <p:nvPr/>
        </p:nvSpPr>
        <p:spPr>
          <a:xfrm>
            <a:off x="836676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activas</a:t>
            </a:r>
            <a:endParaRPr lang="en-US" sz="1050" dirty="0"/>
          </a:p>
        </p:txBody>
      </p:sp>
      <p:sp>
        <p:nvSpPr>
          <p:cNvPr id="56" name="Shape 43"/>
          <p:cNvSpPr/>
          <p:nvPr/>
        </p:nvSpPr>
        <p:spPr>
          <a:xfrm>
            <a:off x="8366760" y="3547872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44"/>
          <p:cNvSpPr/>
          <p:nvPr/>
        </p:nvSpPr>
        <p:spPr>
          <a:xfrm>
            <a:off x="850392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— ADSO</a:t>
            </a:r>
            <a:endParaRPr lang="en-US" sz="950" dirty="0"/>
          </a:p>
        </p:txBody>
      </p:sp>
      <p:sp>
        <p:nvSpPr>
          <p:cNvPr id="58" name="Shape 45"/>
          <p:cNvSpPr/>
          <p:nvPr/>
        </p:nvSpPr>
        <p:spPr>
          <a:xfrm>
            <a:off x="8503920" y="387705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46"/>
          <p:cNvSpPr/>
          <p:nvPr/>
        </p:nvSpPr>
        <p:spPr>
          <a:xfrm>
            <a:off x="8503920" y="38679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050" dirty="0"/>
          </a:p>
        </p:txBody>
      </p:sp>
      <p:sp>
        <p:nvSpPr>
          <p:cNvPr id="60" name="Shape 47"/>
          <p:cNvSpPr/>
          <p:nvPr/>
        </p:nvSpPr>
        <p:spPr>
          <a:xfrm>
            <a:off x="8366760" y="4416552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48"/>
          <p:cNvSpPr/>
          <p:nvPr/>
        </p:nvSpPr>
        <p:spPr>
          <a:xfrm>
            <a:off x="8503920" y="4471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2876543 — TeSis</a:t>
            </a:r>
            <a:endParaRPr lang="en-US" sz="950" dirty="0"/>
          </a:p>
        </p:txBody>
      </p:sp>
      <p:sp>
        <p:nvSpPr>
          <p:cNvPr id="62" name="Shape 49"/>
          <p:cNvSpPr/>
          <p:nvPr/>
        </p:nvSpPr>
        <p:spPr>
          <a:xfrm>
            <a:off x="8503920" y="474573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50"/>
          <p:cNvSpPr/>
          <p:nvPr/>
        </p:nvSpPr>
        <p:spPr>
          <a:xfrm>
            <a:off x="8503920" y="4736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finalizar</a:t>
            </a:r>
            <a:endParaRPr lang="en-US" sz="1050" dirty="0"/>
          </a:p>
        </p:txBody>
      </p:sp>
      <p:sp>
        <p:nvSpPr>
          <p:cNvPr id="64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5" name="Text 5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automático de asistencia (NFC)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NFC — Ficha 3413974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331720"/>
            <a:ext cx="2057400" cy="20574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514600" y="265176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9A9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wifi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971800"/>
            <a:ext cx="777240" cy="777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4572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tu carnet o dispositivo NFC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9377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lectura…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280160" y="5440680"/>
            <a:ext cx="3886200" cy="777240"/>
          </a:xfrm>
          <a:prstGeom prst="roundRect">
            <a:avLst>
              <a:gd name="adj" fmla="val 4705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280160" y="54406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09:14:22  ·  Tiempo de tolerancia: 10 min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1463040"/>
            <a:ext cx="548640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6126480" y="1463040"/>
            <a:ext cx="548640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6126480" y="1645920"/>
            <a:ext cx="548640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626364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646480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666597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70408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instructor — en vivo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1965960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6537960" y="208483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1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03704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32320" y="20391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Ramírez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13232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09:12:03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10378440" y="21762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10378440" y="216712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400800" y="2807208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9"/>
          <p:cNvSpPr/>
          <p:nvPr/>
        </p:nvSpPr>
        <p:spPr>
          <a:xfrm>
            <a:off x="6537960" y="2926080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2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044952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3232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Peña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13232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09:13:41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10378440" y="3017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3"/>
          <p:cNvSpPr/>
          <p:nvPr/>
        </p:nvSpPr>
        <p:spPr>
          <a:xfrm>
            <a:off x="10378440" y="300837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400800" y="3648456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5"/>
          <p:cNvSpPr/>
          <p:nvPr/>
        </p:nvSpPr>
        <p:spPr>
          <a:xfrm>
            <a:off x="6537960" y="3767328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3" descr="/home/claude/sena-ppt/icons/c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886200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132320" y="37216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Ruiz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7132320" y="3995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09:24:10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10378440" y="38587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39"/>
          <p:cNvSpPr/>
          <p:nvPr/>
        </p:nvSpPr>
        <p:spPr>
          <a:xfrm>
            <a:off x="10378440" y="38496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6400800" y="4489704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1"/>
          <p:cNvSpPr/>
          <p:nvPr/>
        </p:nvSpPr>
        <p:spPr>
          <a:xfrm>
            <a:off x="6537960" y="4608576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8" name="Image 4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727448"/>
            <a:ext cx="219456" cy="219456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132320" y="45628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Torres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7132320" y="4837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09:09:55</a:t>
            </a:r>
            <a:endParaRPr lang="en-US" sz="950" dirty="0"/>
          </a:p>
        </p:txBody>
      </p:sp>
      <p:sp>
        <p:nvSpPr>
          <p:cNvPr id="51" name="Shape 44"/>
          <p:cNvSpPr/>
          <p:nvPr/>
        </p:nvSpPr>
        <p:spPr>
          <a:xfrm>
            <a:off x="10378440" y="470001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45"/>
          <p:cNvSpPr/>
          <p:nvPr/>
        </p:nvSpPr>
        <p:spPr>
          <a:xfrm>
            <a:off x="10378440" y="469087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6400800" y="5330952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Shape 47"/>
          <p:cNvSpPr/>
          <p:nvPr/>
        </p:nvSpPr>
        <p:spPr>
          <a:xfrm>
            <a:off x="6537960" y="5449824"/>
            <a:ext cx="457200" cy="4572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5" name="Image 5" descr="/home/claude/sena-ppt/icons/clipboard_dark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568696"/>
            <a:ext cx="219456" cy="219456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132320" y="5404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Silva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7132320" y="5678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09:15:02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10378440" y="554126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1"/>
          <p:cNvSpPr/>
          <p:nvPr/>
        </p:nvSpPr>
        <p:spPr>
          <a:xfrm>
            <a:off x="10378440" y="55321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retardos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 — Ficha 3413974 · Competencia: Análisis de requerimientos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clock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4942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26464" y="222199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4183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configurada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2900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593592" y="2130552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24942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42232" y="21945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59359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 en la sesión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624535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history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494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59282" y="221284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 15m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24535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 perdidas (acum.)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732520" y="1965960"/>
            <a:ext cx="2194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8897112" y="213055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224942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50791" y="216712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8897112" y="25420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77240" y="3063240"/>
            <a:ext cx="10149840" cy="365760"/>
          </a:xfrm>
          <a:prstGeom prst="rect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6"/>
          <p:cNvSpPr/>
          <p:nvPr/>
        </p:nvSpPr>
        <p:spPr>
          <a:xfrm>
            <a:off x="868680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246120" y="3063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registro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983480" y="3063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263640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perdidas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635240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006840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instructor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77240" y="3429000"/>
            <a:ext cx="10149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868680" y="3429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Ruiz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3246120" y="3429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09:24:10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34290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263640" y="3429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635240" y="35112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8"/>
          <p:cNvSpPr/>
          <p:nvPr/>
        </p:nvSpPr>
        <p:spPr>
          <a:xfrm>
            <a:off x="7635240" y="35021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9006840" y="35112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0"/>
          <p:cNvSpPr/>
          <p:nvPr/>
        </p:nvSpPr>
        <p:spPr>
          <a:xfrm>
            <a:off x="9006840" y="35021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777240" y="3886200"/>
            <a:ext cx="101498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2"/>
          <p:cNvSpPr/>
          <p:nvPr/>
        </p:nvSpPr>
        <p:spPr>
          <a:xfrm>
            <a:off x="868680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Cárdenas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3246120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09:31:52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4983480" y="38862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min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6263640" y="3886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7635240" y="39684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47"/>
          <p:cNvSpPr/>
          <p:nvPr/>
        </p:nvSpPr>
        <p:spPr>
          <a:xfrm>
            <a:off x="7635240" y="39593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9006840" y="39684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49"/>
          <p:cNvSpPr/>
          <p:nvPr/>
        </p:nvSpPr>
        <p:spPr>
          <a:xfrm>
            <a:off x="9006840" y="3959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Justificado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777240" y="4343400"/>
            <a:ext cx="10149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1"/>
          <p:cNvSpPr/>
          <p:nvPr/>
        </p:nvSpPr>
        <p:spPr>
          <a:xfrm>
            <a:off x="868680" y="4343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Cruz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3246120" y="4343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09:19:07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4983480" y="43434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6263640" y="4343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7635240" y="44256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56"/>
          <p:cNvSpPr/>
          <p:nvPr/>
        </p:nvSpPr>
        <p:spPr>
          <a:xfrm>
            <a:off x="7635240" y="4416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9006840" y="44256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58"/>
          <p:cNvSpPr/>
          <p:nvPr/>
        </p:nvSpPr>
        <p:spPr>
          <a:xfrm>
            <a:off x="9006840" y="4416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65" name="Shape 59"/>
          <p:cNvSpPr/>
          <p:nvPr/>
        </p:nvSpPr>
        <p:spPr>
          <a:xfrm>
            <a:off x="777240" y="4800600"/>
            <a:ext cx="10149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7" name="Text 6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 de asistencia del aprendiz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— Laura Ramírez · Documento 10XXXXXXXX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834640" cy="457200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463040" y="2240280"/>
            <a:ext cx="914400" cy="91440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47802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Laura Ramírez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ADSO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148840" y="4187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global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" y="4736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48840" y="48097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535838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148840" y="5431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862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registros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160520" y="263347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3977640" y="237744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1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2477292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26280" y="2359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jul 2026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26280" y="259689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09:12:03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035040" y="24231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035040" y="24140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160520" y="341071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7"/>
          <p:cNvSpPr/>
          <p:nvPr/>
        </p:nvSpPr>
        <p:spPr>
          <a:xfrm>
            <a:off x="3977640" y="3154680"/>
            <a:ext cx="384048" cy="384048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2" name="Image 2" descr="/home/claude/sena-ppt/icons/c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492" y="3254532"/>
            <a:ext cx="184343" cy="18434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526280" y="3136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jul 2026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526280" y="33741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09:24:40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035040" y="32004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1"/>
          <p:cNvSpPr/>
          <p:nvPr/>
        </p:nvSpPr>
        <p:spPr>
          <a:xfrm>
            <a:off x="6035040" y="31912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 (14 min)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160520" y="418795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3"/>
          <p:cNvSpPr/>
          <p:nvPr/>
        </p:nvSpPr>
        <p:spPr>
          <a:xfrm>
            <a:off x="3977640" y="393192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3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4031772"/>
            <a:ext cx="184343" cy="184343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526280" y="3913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 2026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26280" y="41513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09:08:15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035040" y="3977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37"/>
          <p:cNvSpPr/>
          <p:nvPr/>
        </p:nvSpPr>
        <p:spPr>
          <a:xfrm>
            <a:off x="6035040" y="39684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160520" y="496519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39"/>
          <p:cNvSpPr/>
          <p:nvPr/>
        </p:nvSpPr>
        <p:spPr>
          <a:xfrm>
            <a:off x="3977640" y="4709160"/>
            <a:ext cx="384048" cy="38404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6" name="Image 4" descr="/home/claude/sena-ppt/icons/clipboard_dark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492" y="4809012"/>
            <a:ext cx="184343" cy="18434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526280" y="4690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jul 2026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4526280" y="49286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035040" y="47548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3"/>
          <p:cNvSpPr/>
          <p:nvPr/>
        </p:nvSpPr>
        <p:spPr>
          <a:xfrm>
            <a:off x="6035040" y="47457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falla de lector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4160520" y="574243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45"/>
          <p:cNvSpPr/>
          <p:nvPr/>
        </p:nvSpPr>
        <p:spPr>
          <a:xfrm>
            <a:off x="3977640" y="548640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3" name="Image 5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5586252"/>
            <a:ext cx="184343" cy="18434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4526280" y="5468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jul 2026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4526280" y="57058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09:10:02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6035040" y="5532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49"/>
          <p:cNvSpPr/>
          <p:nvPr/>
        </p:nvSpPr>
        <p:spPr>
          <a:xfrm>
            <a:off x="6035040" y="552297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58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para instructores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— Ficha 3413974 · Julio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mensual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914400" y="2423160"/>
          <a:ext cx="3246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960120" y="5760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Presente · 9% Retardo · 3% Ausente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80560" y="1965960"/>
            <a:ext cx="63093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663440" y="2103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asistencia — últimas 6 semanas</a:t>
            </a:r>
            <a:endParaRPr lang="en-US" sz="105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572000" y="2423160"/>
          <a:ext cx="6126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4480560" y="4846320"/>
            <a:ext cx="6309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4663440" y="4983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63440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4800600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0" descr="/home/claude/sena-ppt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585" y="5639105"/>
            <a:ext cx="197510" cy="1975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por ficha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748272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0"/>
          <p:cNvSpPr/>
          <p:nvPr/>
        </p:nvSpPr>
        <p:spPr>
          <a:xfrm>
            <a:off x="6885432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1" descr="/home/claude/sena-ppt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417" y="5639105"/>
            <a:ext cx="197510" cy="19751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85432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por aprendiz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833104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8970264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2" descr="/home/claude/sena-ppt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7249" y="5639105"/>
            <a:ext cx="197510" cy="19751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70264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por fecha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y notificaciones automáticas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notificaciones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32688" y="2103120"/>
            <a:ext cx="475488" cy="475488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warnin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15" y="2226747"/>
            <a:ext cx="228234" cy="2282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72768" y="20665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aprendices registrados en Retardo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572768" y="23500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hace 4 min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7240" y="2761488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932688" y="2852928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user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15" y="2976555"/>
            <a:ext cx="228234" cy="22823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72768" y="28163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aprendices marcados como Ausente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572768" y="30998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finalizada automáticamente · hace 10 min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77240" y="3511296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932688" y="3602736"/>
            <a:ext cx="475488" cy="47548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clipboard_dark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15" y="3726363"/>
            <a:ext cx="228234" cy="2282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356616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realizado por el instructor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572768" y="3849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Motivo: falla de lector NFC · hace 12 min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7240" y="4261104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932688" y="4352544"/>
            <a:ext cx="475488" cy="47548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315" y="4476171"/>
            <a:ext cx="228234" cy="2282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72768" y="431596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iniciada correctamente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572768" y="45994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Competencia: Bases de datos · hace 32 min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77240" y="5010912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6"/>
          <p:cNvSpPr/>
          <p:nvPr/>
        </p:nvSpPr>
        <p:spPr>
          <a:xfrm>
            <a:off x="932688" y="5102352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4" descr="/home/claude/sena-ppt/icons/fingerprin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315" y="5225979"/>
            <a:ext cx="228234" cy="22823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72768" y="50657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de NFC ya asociado, rechazado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572768" y="5349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vinculado a otro aprendiz · hace 45 min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77240" y="576072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0"/>
          <p:cNvSpPr/>
          <p:nvPr/>
        </p:nvSpPr>
        <p:spPr>
          <a:xfrm>
            <a:off x="932688" y="5852160"/>
            <a:ext cx="475488" cy="47548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5" descr="/home/claude/sena-ppt/icons/history_dark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315" y="5975787"/>
            <a:ext cx="228234" cy="22823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572768" y="58155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cerrada y consolidada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572768" y="60990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disponible para descarga · ayer, 15:32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de estadísticas institucionales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institucional — Centro de la Industria, la Empresa y los Servicios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users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4942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05128" y="2167128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1,240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418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5204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685032" y="213055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24942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74236" y="2185416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94.2%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6850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636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64282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clipboard_dark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2494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13448" y="2167128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4282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en formación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06840" y="196596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9171432" y="2130552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loc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24942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722498" y="213969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6.1%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171432" y="25877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 globales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77240" y="3063240"/>
            <a:ext cx="6263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6"/>
          <p:cNvSpPr/>
          <p:nvPr/>
        </p:nvSpPr>
        <p:spPr>
          <a:xfrm>
            <a:off x="960120" y="31729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 por programa</a:t>
            </a:r>
            <a:endParaRPr lang="en-US" sz="105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868680" y="3474720"/>
          <a:ext cx="60350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4" name="Shape 27"/>
          <p:cNvSpPr/>
          <p:nvPr/>
        </p:nvSpPr>
        <p:spPr>
          <a:xfrm>
            <a:off x="7223760" y="3063240"/>
            <a:ext cx="37033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28"/>
          <p:cNvSpPr/>
          <p:nvPr/>
        </p:nvSpPr>
        <p:spPr>
          <a:xfrm>
            <a:off x="7406640" y="3172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tiempo real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740664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activas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9692640" y="35935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1"/>
          <p:cNvSpPr/>
          <p:nvPr/>
        </p:nvSpPr>
        <p:spPr>
          <a:xfrm>
            <a:off x="9692640" y="35844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40664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NFC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9692640" y="409651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4"/>
          <p:cNvSpPr/>
          <p:nvPr/>
        </p:nvSpPr>
        <p:spPr>
          <a:xfrm>
            <a:off x="9692640" y="40873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40664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auditoría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9692640" y="45994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7"/>
          <p:cNvSpPr/>
          <p:nvPr/>
        </p:nvSpPr>
        <p:spPr>
          <a:xfrm>
            <a:off x="9692640" y="45902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2 min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39A900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sena-ppt/icons/wifi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18" y="175199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Innovación, eficiencia y control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asistencia automatizado, transparente y seguro para la formación SENA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82880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3192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393192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813816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Torres Fierro  ·  Juan David Gómez Martínez  ·  SENA ADSO 3413974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1763</Words>
  <Application>Microsoft Office PowerPoint</Application>
  <PresentationFormat>Widescreen</PresentationFormat>
  <Paragraphs>439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Gomez</cp:lastModifiedBy>
  <cp:revision>2</cp:revision>
  <dcterms:created xsi:type="dcterms:W3CDTF">2026-07-11T15:46:21Z</dcterms:created>
  <dcterms:modified xsi:type="dcterms:W3CDTF">2026-07-11T16:07:57Z</dcterms:modified>
</cp:coreProperties>
</file>