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79903-F6F7-6731-E150-013E6EE54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1C81BA-7E47-8FB5-F9D9-7DBA1912B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3F02C3-A62F-76B5-FF37-73A7C3AF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D8E1D9-4E56-7C9F-A37E-3CAFCCA4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AC276-8C27-E83A-95A8-3D094D86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20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8E617-1FD1-AE8F-A907-0CFD527B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DF478E-909A-EF8A-1E6D-14D59453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20A65-A6AE-5943-10D8-8F330EA5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C167CA-92AD-2CF8-FE38-CE5DF5CB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ADE3B2-4B2B-DCB9-5A54-9D6FB487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894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A7F21-4B95-250B-9885-9D69188F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8D4B2A-A344-18E6-CD40-818613FA5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F7D45-4D7F-8120-EE58-9F6382E9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5DE878-9DC8-E571-5E73-5FA8B3F9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1FD8B9-63BB-90F8-09C7-755F032D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11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58F6E-EB55-2F2E-D860-392A9240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864D52-0640-A850-E02D-CE19B3859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F7CA60-246D-6A26-7964-9A43BAAD7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7D8FEC-2979-20E2-49F3-D9A451B5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6D1753-218A-20DA-A77B-63E01952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A2814-D476-33B5-C350-543E4EEE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032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9ADC0-0821-02B4-4F67-53143C3A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B0E84B-F736-2D21-8A57-D01AFDBE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46BB8E-FA07-6A4A-3686-9ED910475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ECABB6-585E-60A0-1BF6-94E884379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8F5043-6882-A645-83A4-19AC1085F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D9DFC1-F719-EB25-E22B-FCE266D0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E82454-D7A9-FDE8-45EB-DAF6E5D8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9435A4-D4AC-C465-D578-639DD7C3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3983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88421-3E06-AE97-8D8C-EE8762A4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F90750-C049-872D-F4A9-5B062D26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DEE9B3-091D-EB9B-0CC6-F88D97A9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616B3C-236D-FC4D-BA1C-D6DAC160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22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81B45B0-94E2-1480-C68E-F044E81A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368430-A7FB-5C75-A895-57231BC7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5D6583-A507-3178-64C1-7615D7B4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574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82FB4-A812-8A90-5945-206BFD49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95A56E-E7F5-3F54-5C79-ECAE6552D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B5C7C8-8B2D-AB57-B7E6-C775BB813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D0C62-BD74-F26C-52A8-53FA123D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E00C-8A1F-F17A-145C-92D9E57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A15F35-528F-455C-032F-065F93F5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517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1D779-3175-128E-DAB8-04BE7AB8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2D042A-F12F-0715-F7B9-3A8F802C6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D868C9-0836-C388-D96F-6153ABD8F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1BC86E-F130-A2CA-1EFA-5B8FFB70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6FC761-AF44-048A-4F52-DB35E2C3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F56D3A-C27C-6E24-C58A-44724DA1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213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CCFB9-5B94-CA59-3BED-3C5F0EE0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90ABE6-7CA1-9C3D-8050-4A68DD0B7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8CFBDF-A540-0819-A71F-66064281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0CCFF2-CC38-AF50-5C9C-2A361696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5DF354-5952-9DE6-B8EA-A243699E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962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696432-C80C-5532-483D-5BE36C960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2B8631-43A5-65FB-D399-F75DE429E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EF812-E93B-A386-786C-6DF5CE4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13FDD3-4CA5-480E-3A8A-3829DAB5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97C4C7-9F96-AFAC-EB22-D0E01EA8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969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C98CA9-FF98-81BF-84A7-85C1BFE0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36103A-1643-9570-A456-C388F34C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F83464-81A2-7294-B364-E9F350C7F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AD1A-EBF6-4E46-84DA-233284027130}" type="datetimeFigureOut">
              <a:rPr lang="es-CO" smtClean="0"/>
              <a:t>23/05/2026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889143-865B-C615-F196-D66A79A48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013B87-2DB1-2ED3-805D-BA85BA98C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31D8A-5583-4538-9925-D1B3B70908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88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B7CB21E-1A37-D45E-981D-90811AE7C5B8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prstGeom prst="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EA7B3E-0CE0-2CD9-936D-58DE5BA0540F}"/>
              </a:ext>
            </a:extLst>
          </p:cNvPr>
          <p:cNvSpPr/>
          <p:nvPr/>
        </p:nvSpPr>
        <p:spPr>
          <a:xfrm>
            <a:off x="0" y="0"/>
            <a:ext cx="3302000" cy="97536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2639D2-149A-1264-1E1D-32C79A38246D}"/>
              </a:ext>
            </a:extLst>
          </p:cNvPr>
          <p:cNvSpPr txBox="1"/>
          <p:nvPr/>
        </p:nvSpPr>
        <p:spPr>
          <a:xfrm>
            <a:off x="254000" y="381000"/>
            <a:ext cx="279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200" b="1">
                <a:solidFill>
                  <a:srgbClr val="39A900"/>
                </a:solidFill>
                <a:latin typeface="Segoe UI" panose="020B0502040204020203" pitchFamily="34" charset="0"/>
              </a:rPr>
              <a:t>SENA SCHEDULE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292A932-DB0B-EB32-176F-514528B372DC}"/>
              </a:ext>
            </a:extLst>
          </p:cNvPr>
          <p:cNvSpPr/>
          <p:nvPr/>
        </p:nvSpPr>
        <p:spPr>
          <a:xfrm>
            <a:off x="190500" y="1143000"/>
            <a:ext cx="2921000" cy="5715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284EA7-EA4C-1DD2-4F67-723E4B134E15}"/>
              </a:ext>
            </a:extLst>
          </p:cNvPr>
          <p:cNvSpPr txBox="1"/>
          <p:nvPr/>
        </p:nvSpPr>
        <p:spPr>
          <a:xfrm>
            <a:off x="381000" y="12065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>
                <a:solidFill>
                  <a:srgbClr val="39A900"/>
                </a:solidFill>
                <a:latin typeface="Segoe UI" panose="020B0502040204020203" pitchFamily="34" charset="0"/>
              </a:rPr>
              <a:t>Dashboard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D0512B-F8A2-1469-F77A-CC8FFD07C93F}"/>
              </a:ext>
            </a:extLst>
          </p:cNvPr>
          <p:cNvSpPr txBox="1"/>
          <p:nvPr/>
        </p:nvSpPr>
        <p:spPr>
          <a:xfrm>
            <a:off x="381000" y="19050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94A3B8"/>
                </a:solidFill>
                <a:latin typeface="Segoe UI" panose="020B0502040204020203" pitchFamily="34" charset="0"/>
              </a:rPr>
              <a:t>Gestión de Fichas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9D9BC2-062C-85DE-B957-52F0336B0D13}"/>
              </a:ext>
            </a:extLst>
          </p:cNvPr>
          <p:cNvSpPr txBox="1"/>
          <p:nvPr/>
        </p:nvSpPr>
        <p:spPr>
          <a:xfrm>
            <a:off x="381000" y="26035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94A3B8"/>
                </a:solidFill>
                <a:latin typeface="Segoe UI" panose="020B0502040204020203" pitchFamily="34" charset="0"/>
              </a:rPr>
              <a:t>Ambientes Físicos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69DD0D-4A28-6D6A-29CC-648B2808AE55}"/>
              </a:ext>
            </a:extLst>
          </p:cNvPr>
          <p:cNvSpPr txBox="1"/>
          <p:nvPr/>
        </p:nvSpPr>
        <p:spPr>
          <a:xfrm>
            <a:off x="381000" y="33020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94A3B8"/>
                </a:solidFill>
                <a:latin typeface="Segoe UI" panose="020B0502040204020203" pitchFamily="34" charset="0"/>
              </a:rPr>
              <a:t>Instructores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55B824-4843-C80F-563C-545A11D3FFB3}"/>
              </a:ext>
            </a:extLst>
          </p:cNvPr>
          <p:cNvSpPr txBox="1"/>
          <p:nvPr/>
        </p:nvSpPr>
        <p:spPr>
          <a:xfrm>
            <a:off x="381000" y="40005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94A3B8"/>
                </a:solidFill>
                <a:latin typeface="Segoe UI" panose="020B0502040204020203" pitchFamily="34" charset="0"/>
              </a:rPr>
              <a:t>Visor de Horarios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5AEBBD-F301-990E-281C-142158F0AD51}"/>
              </a:ext>
            </a:extLst>
          </p:cNvPr>
          <p:cNvSpPr txBox="1"/>
          <p:nvPr/>
        </p:nvSpPr>
        <p:spPr>
          <a:xfrm>
            <a:off x="381000" y="46990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94A3B8"/>
                </a:solidFill>
                <a:latin typeface="Segoe UI" panose="020B0502040204020203" pitchFamily="34" charset="0"/>
              </a:rPr>
              <a:t>Reportes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529D73D-2158-B5A4-B72E-9DB5FD8329E7}"/>
              </a:ext>
            </a:extLst>
          </p:cNvPr>
          <p:cNvSpPr/>
          <p:nvPr/>
        </p:nvSpPr>
        <p:spPr>
          <a:xfrm>
            <a:off x="3302000" y="0"/>
            <a:ext cx="140462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>
                <a:alpha val="2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3D61AF2-BA6D-94EE-EB8D-F383817F7A89}"/>
              </a:ext>
            </a:extLst>
          </p:cNvPr>
          <p:cNvSpPr/>
          <p:nvPr/>
        </p:nvSpPr>
        <p:spPr>
          <a:xfrm>
            <a:off x="3683000" y="254000"/>
            <a:ext cx="5080000" cy="508000"/>
          </a:xfrm>
          <a:prstGeom prst="roundRect">
            <a:avLst/>
          </a:prstGeom>
          <a:solidFill>
            <a:srgbClr val="F1F5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916DB6-3938-BA74-2882-F92C5989B7DC}"/>
              </a:ext>
            </a:extLst>
          </p:cNvPr>
          <p:cNvSpPr txBox="1"/>
          <p:nvPr/>
        </p:nvSpPr>
        <p:spPr>
          <a:xfrm>
            <a:off x="3810000" y="317500"/>
            <a:ext cx="482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>
                <a:solidFill>
                  <a:srgbClr val="94A3B8"/>
                </a:solidFill>
              </a:rPr>
              <a:t>Buscar ficha, instructor o ambiente...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5A363CB-0F2E-79DA-BEA1-CEA7BC2251C0}"/>
              </a:ext>
            </a:extLst>
          </p:cNvPr>
          <p:cNvSpPr/>
          <p:nvPr/>
        </p:nvSpPr>
        <p:spPr>
          <a:xfrm>
            <a:off x="12065000" y="254000"/>
            <a:ext cx="2286000" cy="508000"/>
          </a:xfrm>
          <a:prstGeom prst="roundRect">
            <a:avLst/>
          </a:prstGeom>
          <a:solidFill>
            <a:srgbClr val="39A9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8E7567F-497F-90FA-6B65-DA841B2247E0}"/>
              </a:ext>
            </a:extLst>
          </p:cNvPr>
          <p:cNvSpPr txBox="1"/>
          <p:nvPr/>
        </p:nvSpPr>
        <p:spPr>
          <a:xfrm>
            <a:off x="12065000" y="317500"/>
            <a:ext cx="2286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b="1">
                <a:solidFill>
                  <a:srgbClr val="FFFFFF"/>
                </a:solidFill>
              </a:rPr>
              <a:t>+ Crear Horario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CECB34B-CDD7-EEAD-D5DB-973D18333EDA}"/>
              </a:ext>
            </a:extLst>
          </p:cNvPr>
          <p:cNvSpPr/>
          <p:nvPr/>
        </p:nvSpPr>
        <p:spPr>
          <a:xfrm>
            <a:off x="16002000" y="190500"/>
            <a:ext cx="571500" cy="571500"/>
          </a:xfrm>
          <a:prstGeom prst="ellipse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C312D33-D5A7-9F4E-BA58-86F9C2C30A09}"/>
              </a:ext>
            </a:extLst>
          </p:cNvPr>
          <p:cNvSpPr txBox="1"/>
          <p:nvPr/>
        </p:nvSpPr>
        <p:spPr>
          <a:xfrm>
            <a:off x="14605000" y="317500"/>
            <a:ext cx="127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b="1"/>
              <a:t>Coordinador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FD3CFE1-E0E5-8893-4535-C76836F4AD83}"/>
              </a:ext>
            </a:extLst>
          </p:cNvPr>
          <p:cNvSpPr/>
          <p:nvPr/>
        </p:nvSpPr>
        <p:spPr>
          <a:xfrm>
            <a:off x="3683000" y="1397000"/>
            <a:ext cx="3048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E1D1F97-3CF6-DF74-624D-DB6FEAF6567C}"/>
              </a:ext>
            </a:extLst>
          </p:cNvPr>
          <p:cNvSpPr txBox="1"/>
          <p:nvPr/>
        </p:nvSpPr>
        <p:spPr>
          <a:xfrm>
            <a:off x="3873500" y="15875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>
                <a:solidFill>
                  <a:srgbClr val="64748B"/>
                </a:solidFill>
              </a:rPr>
              <a:t>Fichas Activas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F5639CF-C5F0-AA29-41F5-DCB993FBFA70}"/>
              </a:ext>
            </a:extLst>
          </p:cNvPr>
          <p:cNvSpPr txBox="1"/>
          <p:nvPr/>
        </p:nvSpPr>
        <p:spPr>
          <a:xfrm>
            <a:off x="3873500" y="1968500"/>
            <a:ext cx="127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600" b="1">
                <a:solidFill>
                  <a:srgbClr val="0F172A"/>
                </a:solidFill>
              </a:rPr>
              <a:t>34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A7AED6F-733F-B840-9221-550E993FC875}"/>
              </a:ext>
            </a:extLst>
          </p:cNvPr>
          <p:cNvSpPr txBox="1"/>
          <p:nvPr/>
        </p:nvSpPr>
        <p:spPr>
          <a:xfrm>
            <a:off x="3873500" y="254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</a:rPr>
              <a:t>Jornada Diurna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9B0AC8F-53F5-02BB-F43B-E9774136EBB9}"/>
              </a:ext>
            </a:extLst>
          </p:cNvPr>
          <p:cNvSpPr/>
          <p:nvPr/>
        </p:nvSpPr>
        <p:spPr>
          <a:xfrm>
            <a:off x="6985000" y="1397000"/>
            <a:ext cx="3048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BE8430E-6EA7-6BB5-5EB0-DD28EB3DA534}"/>
              </a:ext>
            </a:extLst>
          </p:cNvPr>
          <p:cNvSpPr txBox="1"/>
          <p:nvPr/>
        </p:nvSpPr>
        <p:spPr>
          <a:xfrm>
            <a:off x="7175500" y="15875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>
                <a:solidFill>
                  <a:srgbClr val="64748B"/>
                </a:solidFill>
              </a:rPr>
              <a:t>Ambientes Ocupados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92595B8-1889-7D82-5764-3E6591BFE0C9}"/>
              </a:ext>
            </a:extLst>
          </p:cNvPr>
          <p:cNvSpPr txBox="1"/>
          <p:nvPr/>
        </p:nvSpPr>
        <p:spPr>
          <a:xfrm>
            <a:off x="7175500" y="1968500"/>
            <a:ext cx="127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600" b="1">
                <a:solidFill>
                  <a:srgbClr val="0F172A"/>
                </a:solidFill>
              </a:rPr>
              <a:t>85%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908B9F6-A195-471D-B2AE-F562EDDB6B8C}"/>
              </a:ext>
            </a:extLst>
          </p:cNvPr>
          <p:cNvSpPr txBox="1"/>
          <p:nvPr/>
        </p:nvSpPr>
        <p:spPr>
          <a:xfrm>
            <a:off x="7175500" y="254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</a:rPr>
              <a:t>Capacidad óptima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CA09C08-CF5F-54A9-0375-8705A7CAC585}"/>
              </a:ext>
            </a:extLst>
          </p:cNvPr>
          <p:cNvSpPr/>
          <p:nvPr/>
        </p:nvSpPr>
        <p:spPr>
          <a:xfrm>
            <a:off x="10287000" y="1397000"/>
            <a:ext cx="3048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2971BA-25E2-A445-734F-1DD71838911C}"/>
              </a:ext>
            </a:extLst>
          </p:cNvPr>
          <p:cNvSpPr txBox="1"/>
          <p:nvPr/>
        </p:nvSpPr>
        <p:spPr>
          <a:xfrm>
            <a:off x="10477500" y="15875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>
                <a:solidFill>
                  <a:srgbClr val="64748B"/>
                </a:solidFill>
              </a:rPr>
              <a:t>Instructores Asign.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B99CFD1-DF75-D379-CD93-363C8F9D63BF}"/>
              </a:ext>
            </a:extLst>
          </p:cNvPr>
          <p:cNvSpPr txBox="1"/>
          <p:nvPr/>
        </p:nvSpPr>
        <p:spPr>
          <a:xfrm>
            <a:off x="10477500" y="1968500"/>
            <a:ext cx="127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600" b="1">
                <a:solidFill>
                  <a:srgbClr val="0F172A"/>
                </a:solidFill>
              </a:rPr>
              <a:t>42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9CDE233-95AA-0BE4-11E4-3B98A795F115}"/>
              </a:ext>
            </a:extLst>
          </p:cNvPr>
          <p:cNvSpPr txBox="1"/>
          <p:nvPr/>
        </p:nvSpPr>
        <p:spPr>
          <a:xfrm>
            <a:off x="10477500" y="254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</a:rPr>
              <a:t>Planta y Contratistas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BD6F9C5-1C09-99D9-26D1-5B1EB10472CA}"/>
              </a:ext>
            </a:extLst>
          </p:cNvPr>
          <p:cNvSpPr/>
          <p:nvPr/>
        </p:nvSpPr>
        <p:spPr>
          <a:xfrm>
            <a:off x="13589000" y="1397000"/>
            <a:ext cx="3048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C00AC32-B27A-99B3-3F2C-66CA6C6055A6}"/>
              </a:ext>
            </a:extLst>
          </p:cNvPr>
          <p:cNvSpPr txBox="1"/>
          <p:nvPr/>
        </p:nvSpPr>
        <p:spPr>
          <a:xfrm>
            <a:off x="13779500" y="15875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>
                <a:solidFill>
                  <a:srgbClr val="64748B"/>
                </a:solidFill>
              </a:rPr>
              <a:t>Conflictos Críticos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0C5890A-D07E-7810-47DA-729CFA787CFF}"/>
              </a:ext>
            </a:extLst>
          </p:cNvPr>
          <p:cNvSpPr txBox="1"/>
          <p:nvPr/>
        </p:nvSpPr>
        <p:spPr>
          <a:xfrm>
            <a:off x="13779500" y="1968500"/>
            <a:ext cx="127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600" b="1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CE897F7-C584-DE53-34F2-04061C2CF380}"/>
              </a:ext>
            </a:extLst>
          </p:cNvPr>
          <p:cNvSpPr txBox="1"/>
          <p:nvPr/>
        </p:nvSpPr>
        <p:spPr>
          <a:xfrm>
            <a:off x="13779500" y="25400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</a:rPr>
              <a:t>Requieren atención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25771C1-8812-E456-836C-4B0EF40327EB}"/>
              </a:ext>
            </a:extLst>
          </p:cNvPr>
          <p:cNvSpPr/>
          <p:nvPr/>
        </p:nvSpPr>
        <p:spPr>
          <a:xfrm>
            <a:off x="3683000" y="3302000"/>
            <a:ext cx="9652000" cy="60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8F51197-9823-02AB-6146-60E2FA2D0A74}"/>
              </a:ext>
            </a:extLst>
          </p:cNvPr>
          <p:cNvSpPr txBox="1"/>
          <p:nvPr/>
        </p:nvSpPr>
        <p:spPr>
          <a:xfrm>
            <a:off x="3937000" y="3556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b="1"/>
              <a:t>Vista General de Asignaciones (Semana Actual)</a:t>
            </a:r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5BB75A9C-68E8-E082-0F14-28A5F8637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288470"/>
              </p:ext>
            </p:extLst>
          </p:nvPr>
        </p:nvGraphicFramePr>
        <p:xfrm>
          <a:off x="3937000" y="4191000"/>
          <a:ext cx="91440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4014702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8877727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330370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819071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089907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91897007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</a:rPr>
                        <a:t>Hora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</a:rPr>
                        <a:t>Lunes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</a:rPr>
                        <a:t>Martes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</a:rPr>
                        <a:t>Miércoles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</a:rPr>
                        <a:t>Jueves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</a:rPr>
                        <a:t>Viernes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848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s-CO" sz="1200" b="1"/>
                        <a:t>06:00 - 08:00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100">
                          <a:solidFill>
                            <a:srgbClr val="166534"/>
                          </a:solidFill>
                        </a:rPr>
                        <a:t>Ficha: 255890</a:t>
                      </a:r>
                    </a:p>
                    <a:p>
                      <a:r>
                        <a:rPr lang="es-CO" sz="1100">
                          <a:solidFill>
                            <a:srgbClr val="166534"/>
                          </a:solidFill>
                        </a:rPr>
                        <a:t>Ambiente: Lab. Sistemas 1</a:t>
                      </a:r>
                    </a:p>
                    <a:p>
                      <a:r>
                        <a:rPr lang="es-CO" sz="1100">
                          <a:solidFill>
                            <a:srgbClr val="166534"/>
                          </a:solidFill>
                        </a:rPr>
                        <a:t>Inst: Carlos Ruiz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49558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s-CO" sz="1200" b="1"/>
                        <a:t>08:00 - 10:00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b="1">
                          <a:solidFill>
                            <a:srgbClr val="991B1B"/>
                          </a:solidFill>
                        </a:rPr>
                        <a:t>CRUCE DE HORARIO</a:t>
                      </a:r>
                    </a:p>
                    <a:p>
                      <a:r>
                        <a:rPr lang="es-ES" sz="1100" b="1">
                          <a:solidFill>
                            <a:srgbClr val="991B1B"/>
                          </a:solidFill>
                        </a:rPr>
                        <a:t>Ambiente: Taller Motores</a:t>
                      </a:r>
                    </a:p>
                    <a:p>
                      <a:r>
                        <a:rPr lang="es-ES" sz="1100" b="1">
                          <a:solidFill>
                            <a:srgbClr val="991B1B"/>
                          </a:solidFill>
                        </a:rPr>
                        <a:t>Fichas: 244... y 255...</a:t>
                      </a:r>
                      <a:endParaRPr lang="es-CO" sz="1100" b="1">
                        <a:solidFill>
                          <a:srgbClr val="991B1B"/>
                        </a:solidFill>
                      </a:endParaRP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531018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s-CO" sz="1200" b="1"/>
                        <a:t>10:00 - 12:00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885249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r>
                        <a:rPr lang="es-CO" sz="1200" b="1"/>
                        <a:t>14:00 - 16:00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322095"/>
                  </a:ext>
                </a:extLst>
              </a:tr>
            </a:tbl>
          </a:graphicData>
        </a:graphic>
      </p:graphicFrame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E51F68C1-22A3-99DA-23F4-39A06C9F9AE5}"/>
              </a:ext>
            </a:extLst>
          </p:cNvPr>
          <p:cNvSpPr/>
          <p:nvPr/>
        </p:nvSpPr>
        <p:spPr>
          <a:xfrm>
            <a:off x="13589000" y="3302000"/>
            <a:ext cx="3429000" cy="60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2C24CF5-FA8C-5C16-2740-E1079E995DEA}"/>
              </a:ext>
            </a:extLst>
          </p:cNvPr>
          <p:cNvSpPr txBox="1"/>
          <p:nvPr/>
        </p:nvSpPr>
        <p:spPr>
          <a:xfrm>
            <a:off x="13843000" y="3556000"/>
            <a:ext cx="254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/>
              <a:t>Validaciones del Sistema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816A596-70AD-0349-9B3E-E2226FAB1663}"/>
              </a:ext>
            </a:extLst>
          </p:cNvPr>
          <p:cNvSpPr/>
          <p:nvPr/>
        </p:nvSpPr>
        <p:spPr>
          <a:xfrm>
            <a:off x="13843000" y="4191000"/>
            <a:ext cx="2921000" cy="101600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B12A2D7-6B93-40EB-5C3D-530C7A4DBD7E}"/>
              </a:ext>
            </a:extLst>
          </p:cNvPr>
          <p:cNvSpPr txBox="1"/>
          <p:nvPr/>
        </p:nvSpPr>
        <p:spPr>
          <a:xfrm>
            <a:off x="13970000" y="4318000"/>
            <a:ext cx="2667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100">
                <a:solidFill>
                  <a:srgbClr val="991B1B"/>
                </a:solidFill>
              </a:rPr>
              <a:t>?? Doble asignación</a:t>
            </a:r>
          </a:p>
          <a:p>
            <a:r>
              <a:rPr lang="es-ES" sz="1100">
                <a:solidFill>
                  <a:srgbClr val="991B1B"/>
                </a:solidFill>
              </a:rPr>
              <a:t>Instructor María López asignada a dos ambientes simultáneamente.</a:t>
            </a:r>
            <a:endParaRPr lang="es-CO" sz="1100">
              <a:solidFill>
                <a:srgbClr val="991B1B"/>
              </a:solidFill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65634FE-3ED4-B0BC-86BE-6B5A4F9EEE63}"/>
              </a:ext>
            </a:extLst>
          </p:cNvPr>
          <p:cNvSpPr/>
          <p:nvPr/>
        </p:nvSpPr>
        <p:spPr>
          <a:xfrm>
            <a:off x="13843000" y="5461000"/>
            <a:ext cx="2921000" cy="101600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9E3E518-8FF2-4541-ED30-238EB898CB01}"/>
              </a:ext>
            </a:extLst>
          </p:cNvPr>
          <p:cNvSpPr txBox="1"/>
          <p:nvPr/>
        </p:nvSpPr>
        <p:spPr>
          <a:xfrm>
            <a:off x="13970000" y="5588000"/>
            <a:ext cx="2667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100">
                <a:solidFill>
                  <a:srgbClr val="166534"/>
                </a:solidFill>
              </a:rPr>
              <a:t>? Guardado exitoso</a:t>
            </a:r>
          </a:p>
          <a:p>
            <a:r>
              <a:rPr lang="es-ES" sz="1100">
                <a:solidFill>
                  <a:srgbClr val="166534"/>
                </a:solidFill>
              </a:rPr>
              <a:t>Horario de la Ficha 266789 actualizado y notificado a aprendices.</a:t>
            </a:r>
            <a:endParaRPr lang="es-CO" sz="1100">
              <a:solidFill>
                <a:srgbClr val="1665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ED45DA3-E3E8-FAA8-E5A9-E4E579E18149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994C033-A302-6917-1C0A-860DD6D28AC7}"/>
              </a:ext>
            </a:extLst>
          </p:cNvPr>
          <p:cNvSpPr/>
          <p:nvPr/>
        </p:nvSpPr>
        <p:spPr>
          <a:xfrm>
            <a:off x="0" y="0"/>
            <a:ext cx="17348200" cy="1016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6867FC-889E-D4E3-E9DA-5F95361E40AB}"/>
              </a:ext>
            </a:extLst>
          </p:cNvPr>
          <p:cNvSpPr txBox="1"/>
          <p:nvPr/>
        </p:nvSpPr>
        <p:spPr>
          <a:xfrm>
            <a:off x="508000" y="254000"/>
            <a:ext cx="762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400" b="1">
                <a:solidFill>
                  <a:srgbClr val="FFFFFF"/>
                </a:solidFill>
                <a:latin typeface="Segoe UI" panose="020B0502040204020203" pitchFamily="34" charset="0"/>
              </a:rPr>
              <a:t>PRJ-SENA-SCHEDULE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BB43B2-39A4-9E4A-CF4E-782FA3362E92}"/>
              </a:ext>
            </a:extLst>
          </p:cNvPr>
          <p:cNvSpPr txBox="1"/>
          <p:nvPr/>
        </p:nvSpPr>
        <p:spPr>
          <a:xfrm>
            <a:off x="4064000" y="330200"/>
            <a:ext cx="508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>
                <a:solidFill>
                  <a:srgbClr val="94A3B8"/>
                </a:solidFill>
                <a:latin typeface="Segoe UI" panose="020B0502040204020203" pitchFamily="34" charset="0"/>
              </a:rPr>
              <a:t>| Panel de Control Gerencial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7745456-586F-3B31-43C5-7820A8256865}"/>
              </a:ext>
            </a:extLst>
          </p:cNvPr>
          <p:cNvSpPr/>
          <p:nvPr/>
        </p:nvSpPr>
        <p:spPr>
          <a:xfrm>
            <a:off x="508000" y="1397000"/>
            <a:ext cx="3810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2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54BCD4-3E18-6537-BB2D-1012B7AD2B1F}"/>
              </a:ext>
            </a:extLst>
          </p:cNvPr>
          <p:cNvSpPr txBox="1"/>
          <p:nvPr/>
        </p:nvSpPr>
        <p:spPr>
          <a:xfrm>
            <a:off x="762000" y="165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475569"/>
                </a:solidFill>
                <a:latin typeface="Segoe UI" panose="020B0502040204020203" pitchFamily="34" charset="0"/>
              </a:rPr>
              <a:t>Fichas Activas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D9D037-B3F4-A02B-851A-D0B10D2F2390}"/>
              </a:ext>
            </a:extLst>
          </p:cNvPr>
          <p:cNvSpPr txBox="1"/>
          <p:nvPr/>
        </p:nvSpPr>
        <p:spPr>
          <a:xfrm>
            <a:off x="762000" y="2032000"/>
            <a:ext cx="127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200" b="1">
                <a:solidFill>
                  <a:srgbClr val="0F172A"/>
                </a:solidFill>
                <a:latin typeface="Segoe UI" panose="020B0502040204020203" pitchFamily="34" charset="0"/>
              </a:rPr>
              <a:t>28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5C8F03-33F8-9CA0-018C-E97E84063CCB}"/>
              </a:ext>
            </a:extLst>
          </p:cNvPr>
          <p:cNvSpPr txBox="1"/>
          <p:nvPr/>
        </p:nvSpPr>
        <p:spPr>
          <a:xfrm>
            <a:off x="2032000" y="2159000"/>
            <a:ext cx="190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  <a:latin typeface="Segoe UI" panose="020B0502040204020203" pitchFamily="34" charset="0"/>
              </a:rPr>
              <a:t>+2 esta semana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355158D-B123-3896-01E8-444462E40C96}"/>
              </a:ext>
            </a:extLst>
          </p:cNvPr>
          <p:cNvSpPr/>
          <p:nvPr/>
        </p:nvSpPr>
        <p:spPr>
          <a:xfrm>
            <a:off x="4572000" y="1397000"/>
            <a:ext cx="3810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2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AE10D9-6A2A-A338-F341-8535A6383521}"/>
              </a:ext>
            </a:extLst>
          </p:cNvPr>
          <p:cNvSpPr txBox="1"/>
          <p:nvPr/>
        </p:nvSpPr>
        <p:spPr>
          <a:xfrm>
            <a:off x="4826000" y="165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475569"/>
                </a:solidFill>
                <a:latin typeface="Segoe UI" panose="020B0502040204020203" pitchFamily="34" charset="0"/>
              </a:rPr>
              <a:t>Ambientes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81B2DB1-0165-28A3-2F10-6E35E70D1C09}"/>
              </a:ext>
            </a:extLst>
          </p:cNvPr>
          <p:cNvSpPr txBox="1"/>
          <p:nvPr/>
        </p:nvSpPr>
        <p:spPr>
          <a:xfrm>
            <a:off x="4826000" y="2032000"/>
            <a:ext cx="127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200" b="1">
                <a:solidFill>
                  <a:srgbClr val="0F172A"/>
                </a:solidFill>
                <a:latin typeface="Segoe UI" panose="020B0502040204020203" pitchFamily="34" charset="0"/>
              </a:rPr>
              <a:t>16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50E497F-C5C8-6CCA-56D6-FACBE57F80A8}"/>
              </a:ext>
            </a:extLst>
          </p:cNvPr>
          <p:cNvSpPr txBox="1"/>
          <p:nvPr/>
        </p:nvSpPr>
        <p:spPr>
          <a:xfrm>
            <a:off x="6096000" y="2159000"/>
            <a:ext cx="190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  <a:latin typeface="Segoe UI" panose="020B0502040204020203" pitchFamily="34" charset="0"/>
              </a:rPr>
              <a:t>85% Ocupación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C317AC1-3256-0E18-0D47-B14F2CED3DC0}"/>
              </a:ext>
            </a:extLst>
          </p:cNvPr>
          <p:cNvSpPr/>
          <p:nvPr/>
        </p:nvSpPr>
        <p:spPr>
          <a:xfrm>
            <a:off x="8636000" y="1397000"/>
            <a:ext cx="3810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2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DF589CF-8FD0-0E88-CADE-29866393DC2E}"/>
              </a:ext>
            </a:extLst>
          </p:cNvPr>
          <p:cNvSpPr txBox="1"/>
          <p:nvPr/>
        </p:nvSpPr>
        <p:spPr>
          <a:xfrm>
            <a:off x="8890000" y="165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475569"/>
                </a:solidFill>
                <a:latin typeface="Segoe UI" panose="020B0502040204020203" pitchFamily="34" charset="0"/>
              </a:rPr>
              <a:t>Instructores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D63E7FC-0EB1-A2F7-E0D3-8239213B89B8}"/>
              </a:ext>
            </a:extLst>
          </p:cNvPr>
          <p:cNvSpPr txBox="1"/>
          <p:nvPr/>
        </p:nvSpPr>
        <p:spPr>
          <a:xfrm>
            <a:off x="8890000" y="2032000"/>
            <a:ext cx="127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200" b="1">
                <a:solidFill>
                  <a:srgbClr val="0F172A"/>
                </a:solidFill>
                <a:latin typeface="Segoe UI" panose="020B0502040204020203" pitchFamily="34" charset="0"/>
              </a:rPr>
              <a:t>45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D90FE2E-1784-3AC9-3815-4A58BBA9E76C}"/>
              </a:ext>
            </a:extLst>
          </p:cNvPr>
          <p:cNvSpPr txBox="1"/>
          <p:nvPr/>
        </p:nvSpPr>
        <p:spPr>
          <a:xfrm>
            <a:off x="10160000" y="2159000"/>
            <a:ext cx="190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  <a:latin typeface="Segoe UI" panose="020B0502040204020203" pitchFamily="34" charset="0"/>
              </a:rPr>
              <a:t>Planta / Contrato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74DEF32-E53F-FA0E-80FC-B91D2628A0A6}"/>
              </a:ext>
            </a:extLst>
          </p:cNvPr>
          <p:cNvSpPr/>
          <p:nvPr/>
        </p:nvSpPr>
        <p:spPr>
          <a:xfrm>
            <a:off x="12700000" y="1397000"/>
            <a:ext cx="3810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2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E21A528-ADEC-D18B-3D30-A37D37E5092F}"/>
              </a:ext>
            </a:extLst>
          </p:cNvPr>
          <p:cNvSpPr txBox="1"/>
          <p:nvPr/>
        </p:nvSpPr>
        <p:spPr>
          <a:xfrm>
            <a:off x="12954000" y="165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>
                <a:solidFill>
                  <a:srgbClr val="475569"/>
                </a:solidFill>
                <a:latin typeface="Segoe UI" panose="020B0502040204020203" pitchFamily="34" charset="0"/>
              </a:rPr>
              <a:t>Cruces Detectados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844692D-EC05-AE7C-9066-F1582D9CD0B1}"/>
              </a:ext>
            </a:extLst>
          </p:cNvPr>
          <p:cNvSpPr txBox="1"/>
          <p:nvPr/>
        </p:nvSpPr>
        <p:spPr>
          <a:xfrm>
            <a:off x="12954000" y="2032000"/>
            <a:ext cx="127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3200" b="1">
                <a:solidFill>
                  <a:srgbClr val="DC2626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952B1BA-064A-6474-D0EE-8BC91D5A1E06}"/>
              </a:ext>
            </a:extLst>
          </p:cNvPr>
          <p:cNvSpPr txBox="1"/>
          <p:nvPr/>
        </p:nvSpPr>
        <p:spPr>
          <a:xfrm>
            <a:off x="14224000" y="2159000"/>
            <a:ext cx="190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>
                <a:solidFill>
                  <a:srgbClr val="94A3B8"/>
                </a:solidFill>
                <a:latin typeface="Segoe UI" panose="020B0502040204020203" pitchFamily="34" charset="0"/>
              </a:rPr>
              <a:t>Requiere acción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00E57E3-4A1B-DA9D-E44D-DD341E05EDFA}"/>
              </a:ext>
            </a:extLst>
          </p:cNvPr>
          <p:cNvSpPr/>
          <p:nvPr/>
        </p:nvSpPr>
        <p:spPr>
          <a:xfrm>
            <a:off x="508000" y="3302000"/>
            <a:ext cx="11938000" cy="508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9C1F849-C0DA-0FFC-1ABC-DB2E839B19A8}"/>
              </a:ext>
            </a:extLst>
          </p:cNvPr>
          <p:cNvSpPr txBox="1"/>
          <p:nvPr/>
        </p:nvSpPr>
        <p:spPr>
          <a:xfrm>
            <a:off x="889000" y="3556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b="1">
                <a:latin typeface="Segoe UI" panose="020B0502040204020203" pitchFamily="34" charset="0"/>
              </a:rPr>
              <a:t>Ocupación de Ambientes (Sesión Actual)</a:t>
            </a:r>
            <a:endParaRPr lang="es-CO" b="1">
              <a:latin typeface="Segoe UI" panose="020B0502040204020203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854820D-6532-1F3E-B475-22E9AB6ED238}"/>
              </a:ext>
            </a:extLst>
          </p:cNvPr>
          <p:cNvSpPr/>
          <p:nvPr/>
        </p:nvSpPr>
        <p:spPr>
          <a:xfrm>
            <a:off x="1016000" y="4318000"/>
            <a:ext cx="3429000" cy="1397000"/>
          </a:xfrm>
          <a:prstGeom prst="roundRect">
            <a:avLst/>
          </a:prstGeom>
          <a:solidFill>
            <a:srgbClr val="F0FDF4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CBF9ABD-3F91-FBD3-8F85-4FB3940773CE}"/>
              </a:ext>
            </a:extLst>
          </p:cNvPr>
          <p:cNvSpPr txBox="1"/>
          <p:nvPr/>
        </p:nvSpPr>
        <p:spPr>
          <a:xfrm>
            <a:off x="1143000" y="4445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/>
              <a:t>Aula 301 (Cap: 30)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919479E-D05B-4AB5-06F9-396485C452D1}"/>
              </a:ext>
            </a:extLst>
          </p:cNvPr>
          <p:cNvSpPr txBox="1"/>
          <p:nvPr/>
        </p:nvSpPr>
        <p:spPr>
          <a:xfrm>
            <a:off x="1143000" y="4826000"/>
            <a:ext cx="317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/>
              <a:t>Ficha: 255890</a:t>
            </a:r>
          </a:p>
          <a:p>
            <a:r>
              <a:rPr lang="es-CO" sz="1200"/>
              <a:t>Inst: Carlos Ruiz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DEEF4D9-39D9-5274-3ED2-D0F0EB31204F}"/>
              </a:ext>
            </a:extLst>
          </p:cNvPr>
          <p:cNvSpPr/>
          <p:nvPr/>
        </p:nvSpPr>
        <p:spPr>
          <a:xfrm>
            <a:off x="4699000" y="4318000"/>
            <a:ext cx="3429000" cy="1397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6A576FB-2ED5-F3EC-2842-826909D7FFA0}"/>
              </a:ext>
            </a:extLst>
          </p:cNvPr>
          <p:cNvSpPr txBox="1"/>
          <p:nvPr/>
        </p:nvSpPr>
        <p:spPr>
          <a:xfrm>
            <a:off x="4826000" y="4445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/>
              <a:t>Lab Sistemas 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7D0D774-FEC1-CE75-F4AD-464CFE2EAA69}"/>
              </a:ext>
            </a:extLst>
          </p:cNvPr>
          <p:cNvSpPr txBox="1"/>
          <p:nvPr/>
        </p:nvSpPr>
        <p:spPr>
          <a:xfrm>
            <a:off x="4826000" y="4826000"/>
            <a:ext cx="317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/>
              <a:t>LIBRE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A968C759-27D2-CE6F-53DA-4FB161336783}"/>
              </a:ext>
            </a:extLst>
          </p:cNvPr>
          <p:cNvSpPr/>
          <p:nvPr/>
        </p:nvSpPr>
        <p:spPr>
          <a:xfrm>
            <a:off x="8382000" y="4318000"/>
            <a:ext cx="3429000" cy="1397000"/>
          </a:xfrm>
          <a:prstGeom prst="roundRect">
            <a:avLst/>
          </a:prstGeom>
          <a:solidFill>
            <a:srgbClr val="F0FDF4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608CFB4-9CB8-B5CC-BCDF-BA1734E25F40}"/>
              </a:ext>
            </a:extLst>
          </p:cNvPr>
          <p:cNvSpPr txBox="1"/>
          <p:nvPr/>
        </p:nvSpPr>
        <p:spPr>
          <a:xfrm>
            <a:off x="8509000" y="4445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/>
              <a:t>Taller Mecánica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3E2E0E7-6C6E-4BA4-F8AC-D81D2F0F5CD4}"/>
              </a:ext>
            </a:extLst>
          </p:cNvPr>
          <p:cNvSpPr txBox="1"/>
          <p:nvPr/>
        </p:nvSpPr>
        <p:spPr>
          <a:xfrm>
            <a:off x="8509000" y="4826000"/>
            <a:ext cx="317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/>
              <a:t>Ficha: 244567</a:t>
            </a:r>
          </a:p>
          <a:p>
            <a:r>
              <a:rPr lang="es-CO" sz="1200"/>
              <a:t>Inst: Ana Gómez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8374FC40-437D-43B1-FF21-A8E371336CA7}"/>
              </a:ext>
            </a:extLst>
          </p:cNvPr>
          <p:cNvSpPr/>
          <p:nvPr/>
        </p:nvSpPr>
        <p:spPr>
          <a:xfrm>
            <a:off x="1016000" y="5969000"/>
            <a:ext cx="3429000" cy="139700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98CA63B-65F0-5796-14F7-6B87A629F232}"/>
              </a:ext>
            </a:extLst>
          </p:cNvPr>
          <p:cNvSpPr txBox="1"/>
          <p:nvPr/>
        </p:nvSpPr>
        <p:spPr>
          <a:xfrm>
            <a:off x="1143000" y="6096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/>
              <a:t>Aula 205 (Cap: 25)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B2D5599-BBD5-C0E6-458E-8EF550D69172}"/>
              </a:ext>
            </a:extLst>
          </p:cNvPr>
          <p:cNvSpPr txBox="1"/>
          <p:nvPr/>
        </p:nvSpPr>
        <p:spPr>
          <a:xfrm>
            <a:off x="1143000" y="6477000"/>
            <a:ext cx="317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200">
                <a:solidFill>
                  <a:srgbClr val="B91C1C"/>
                </a:solidFill>
              </a:rPr>
              <a:t>?? CRUCE DETECTADO</a:t>
            </a:r>
          </a:p>
          <a:p>
            <a:r>
              <a:rPr lang="es-ES" sz="1200">
                <a:solidFill>
                  <a:srgbClr val="B91C1C"/>
                </a:solidFill>
              </a:rPr>
              <a:t>Fichas: 233... y 244...</a:t>
            </a:r>
            <a:endParaRPr lang="es-CO" sz="1200">
              <a:solidFill>
                <a:srgbClr val="B91C1C"/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990A33BB-9F11-B553-3CF6-90689F5743B4}"/>
              </a:ext>
            </a:extLst>
          </p:cNvPr>
          <p:cNvSpPr/>
          <p:nvPr/>
        </p:nvSpPr>
        <p:spPr>
          <a:xfrm>
            <a:off x="4699000" y="5969000"/>
            <a:ext cx="3429000" cy="1397000"/>
          </a:xfrm>
          <a:prstGeom prst="roundRect">
            <a:avLst/>
          </a:prstGeom>
          <a:solidFill>
            <a:srgbClr val="F0FDF4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FD9E31D-0CD8-5871-062D-F1EF05ADD348}"/>
              </a:ext>
            </a:extLst>
          </p:cNvPr>
          <p:cNvSpPr txBox="1"/>
          <p:nvPr/>
        </p:nvSpPr>
        <p:spPr>
          <a:xfrm>
            <a:off x="4826000" y="6096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/>
              <a:t>Lab Redes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55F3578-2BFF-718B-0B81-D914592FB503}"/>
              </a:ext>
            </a:extLst>
          </p:cNvPr>
          <p:cNvSpPr txBox="1"/>
          <p:nvPr/>
        </p:nvSpPr>
        <p:spPr>
          <a:xfrm>
            <a:off x="4826000" y="6477000"/>
            <a:ext cx="317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200"/>
              <a:t>Ficha: 266789</a:t>
            </a:r>
          </a:p>
          <a:p>
            <a:r>
              <a:rPr lang="fr-FR" sz="1200"/>
              <a:t>Inst: Luis Pérez</a:t>
            </a:r>
            <a:endParaRPr lang="es-CO" sz="1200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E298C6E2-F7EC-EA89-21C1-34EB02F2E7EB}"/>
              </a:ext>
            </a:extLst>
          </p:cNvPr>
          <p:cNvSpPr/>
          <p:nvPr/>
        </p:nvSpPr>
        <p:spPr>
          <a:xfrm>
            <a:off x="8382000" y="5969000"/>
            <a:ext cx="3429000" cy="1397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B5746B5-3189-FD1E-830E-41A9E98D84CC}"/>
              </a:ext>
            </a:extLst>
          </p:cNvPr>
          <p:cNvSpPr txBox="1"/>
          <p:nvPr/>
        </p:nvSpPr>
        <p:spPr>
          <a:xfrm>
            <a:off x="8509000" y="6096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 b="1"/>
              <a:t>Auditorio Principal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6F35D05-BFFD-6A8A-D2B7-A66FC11A2B67}"/>
              </a:ext>
            </a:extLst>
          </p:cNvPr>
          <p:cNvSpPr txBox="1"/>
          <p:nvPr/>
        </p:nvSpPr>
        <p:spPr>
          <a:xfrm>
            <a:off x="8509000" y="6477000"/>
            <a:ext cx="317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/>
              <a:t>LIBRE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DF22C59-0A54-D5F1-0F43-AD8DF0DCD2DB}"/>
              </a:ext>
            </a:extLst>
          </p:cNvPr>
          <p:cNvSpPr/>
          <p:nvPr/>
        </p:nvSpPr>
        <p:spPr>
          <a:xfrm>
            <a:off x="12700000" y="3302000"/>
            <a:ext cx="4064000" cy="508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C5603FB-C45D-65E7-CC47-77D08D715209}"/>
              </a:ext>
            </a:extLst>
          </p:cNvPr>
          <p:cNvSpPr txBox="1"/>
          <p:nvPr/>
        </p:nvSpPr>
        <p:spPr>
          <a:xfrm>
            <a:off x="12954000" y="35560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>
                <a:latin typeface="Segoe UI" panose="020B0502040204020203" pitchFamily="34" charset="0"/>
              </a:rPr>
              <a:t>Registro de Auditoría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02739EA-8568-14C6-FB7F-5ECCE0BE3917}"/>
              </a:ext>
            </a:extLst>
          </p:cNvPr>
          <p:cNvSpPr txBox="1"/>
          <p:nvPr/>
        </p:nvSpPr>
        <p:spPr>
          <a:xfrm>
            <a:off x="12954000" y="4191000"/>
            <a:ext cx="35560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[08:45 AM] - Coord. Martínez</a:t>
            </a: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Modificó horario Ficha 255890.</a:t>
            </a:r>
          </a:p>
          <a:p>
            <a:endParaRPr lang="es-ES" sz="1200">
              <a:solidFill>
                <a:srgbClr val="475569"/>
              </a:solidFill>
              <a:latin typeface="Segoe UI" panose="020B0502040204020203" pitchFamily="34" charset="0"/>
            </a:endParaRP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[09:12 AM] - Sistema (Auto)</a:t>
            </a: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Alerta: Doble asignación detectada en Aula 205.</a:t>
            </a:r>
          </a:p>
          <a:p>
            <a:endParaRPr lang="es-ES" sz="1200">
              <a:solidFill>
                <a:srgbClr val="475569"/>
              </a:solidFill>
              <a:latin typeface="Segoe UI" panose="020B0502040204020203" pitchFamily="34" charset="0"/>
            </a:endParaRP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[09:30 AM] - Coord. Silva</a:t>
            </a: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Registró nuevo instructor (Contratista).</a:t>
            </a:r>
          </a:p>
          <a:p>
            <a:endParaRPr lang="es-ES" sz="1200">
              <a:solidFill>
                <a:srgbClr val="475569"/>
              </a:solidFill>
              <a:latin typeface="Segoe UI" panose="020B0502040204020203" pitchFamily="34" charset="0"/>
            </a:endParaRP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[10:05 AM] - Sistema (Auto)</a:t>
            </a:r>
          </a:p>
          <a:p>
            <a:r>
              <a:rPr lang="es-ES" sz="1200">
                <a:solidFill>
                  <a:srgbClr val="475569"/>
                </a:solidFill>
                <a:latin typeface="Segoe UI" panose="020B0502040204020203" pitchFamily="34" charset="0"/>
              </a:rPr>
              <a:t>Sincronización completada.</a:t>
            </a:r>
            <a:endParaRPr lang="es-CO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92F147D-516B-637E-B79F-D1F17D8943CE}"/>
              </a:ext>
            </a:extLst>
          </p:cNvPr>
          <p:cNvSpPr/>
          <p:nvPr/>
        </p:nvSpPr>
        <p:spPr>
          <a:xfrm>
            <a:off x="508000" y="863600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46AA304-34DC-BDBE-5DDF-EF908B4DA815}"/>
              </a:ext>
            </a:extLst>
          </p:cNvPr>
          <p:cNvSpPr txBox="1"/>
          <p:nvPr/>
        </p:nvSpPr>
        <p:spPr>
          <a:xfrm>
            <a:off x="508000" y="87630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1400" b="1">
                <a:solidFill>
                  <a:srgbClr val="FFFFFF"/>
                </a:solidFill>
                <a:latin typeface="Segoe UI" panose="020B0502040204020203" pitchFamily="34" charset="0"/>
              </a:rPr>
              <a:t>Resolver Conflictos (2)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55591D3A-B131-5E5A-5AEF-2C5093D525D2}"/>
              </a:ext>
            </a:extLst>
          </p:cNvPr>
          <p:cNvSpPr/>
          <p:nvPr/>
        </p:nvSpPr>
        <p:spPr>
          <a:xfrm>
            <a:off x="3810000" y="863600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4755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155E8C4-32AA-8CE0-8D1A-078719B7CF78}"/>
              </a:ext>
            </a:extLst>
          </p:cNvPr>
          <p:cNvSpPr txBox="1"/>
          <p:nvPr/>
        </p:nvSpPr>
        <p:spPr>
          <a:xfrm>
            <a:off x="3810000" y="87630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1400" b="1">
                <a:solidFill>
                  <a:srgbClr val="FFFFFF"/>
                </a:solidFill>
                <a:latin typeface="Segoe UI" panose="020B0502040204020203" pitchFamily="34" charset="0"/>
              </a:rPr>
              <a:t>Exportar Horarios (PDF)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C08360B0-1DE6-86D7-B6EC-3979200EA81E}"/>
              </a:ext>
            </a:extLst>
          </p:cNvPr>
          <p:cNvSpPr/>
          <p:nvPr/>
        </p:nvSpPr>
        <p:spPr>
          <a:xfrm>
            <a:off x="7112000" y="863600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39A9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F052F72-2F1A-3589-1B8F-833473F5CF48}"/>
              </a:ext>
            </a:extLst>
          </p:cNvPr>
          <p:cNvSpPr txBox="1"/>
          <p:nvPr/>
        </p:nvSpPr>
        <p:spPr>
          <a:xfrm>
            <a:off x="7112000" y="87630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1400" b="1">
                <a:solidFill>
                  <a:srgbClr val="FFFFFF"/>
                </a:solidFill>
                <a:latin typeface="Segoe UI" panose="020B0502040204020203" pitchFamily="34" charset="0"/>
              </a:rPr>
              <a:t>Publicar Cambios</a:t>
            </a:r>
          </a:p>
        </p:txBody>
      </p:sp>
    </p:spTree>
    <p:extLst>
      <p:ext uri="{BB962C8B-B14F-4D97-AF65-F5344CB8AC3E}">
        <p14:creationId xmlns:p14="http://schemas.microsoft.com/office/powerpoint/2010/main" val="21041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750FF71-5B0A-5ED7-8E58-6FD273D6FE35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7537B1-9477-2091-612C-97AE991D4C8B}"/>
              </a:ext>
            </a:extLst>
          </p:cNvPr>
          <p:cNvSpPr/>
          <p:nvPr/>
        </p:nvSpPr>
        <p:spPr>
          <a:xfrm>
            <a:off x="0" y="0"/>
            <a:ext cx="17348200" cy="1016000"/>
          </a:xfrm>
          <a:prstGeom prst="rect">
            <a:avLst/>
          </a:prstGeom>
          <a:solidFill>
            <a:srgbClr val="39A900"/>
          </a:solidFill>
          <a:ln w="1270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>
                <a:alpha val="2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CB8BFF-E64E-289A-520C-11EAE0F87D4A}"/>
              </a:ext>
            </a:extLst>
          </p:cNvPr>
          <p:cNvSpPr txBox="1"/>
          <p:nvPr/>
        </p:nvSpPr>
        <p:spPr>
          <a:xfrm>
            <a:off x="508000" y="254000"/>
            <a:ext cx="508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400" b="1">
                <a:solidFill>
                  <a:srgbClr val="FFFFFF"/>
                </a:solidFill>
                <a:latin typeface="Segoe UI" panose="020B0502040204020203" pitchFamily="34" charset="0"/>
              </a:rPr>
              <a:t>SENA | Consulta de Horarios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54C2566-1898-2CA9-7051-4E47BBAB00B0}"/>
              </a:ext>
            </a:extLst>
          </p:cNvPr>
          <p:cNvSpPr/>
          <p:nvPr/>
        </p:nvSpPr>
        <p:spPr>
          <a:xfrm>
            <a:off x="14605000" y="254000"/>
            <a:ext cx="2032000" cy="508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E8AD19-BADB-BC16-0BCE-90B559B3A87D}"/>
              </a:ext>
            </a:extLst>
          </p:cNvPr>
          <p:cNvSpPr txBox="1"/>
          <p:nvPr/>
        </p:nvSpPr>
        <p:spPr>
          <a:xfrm>
            <a:off x="14605000" y="317500"/>
            <a:ext cx="203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1200" b="1">
                <a:solidFill>
                  <a:srgbClr val="39A900"/>
                </a:solidFill>
                <a:latin typeface="Segoe UI" panose="020B0502040204020203" pitchFamily="34" charset="0"/>
              </a:rPr>
              <a:t>Acceso Administrativo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80550DD-C075-142B-C4D0-ABA1227A0159}"/>
              </a:ext>
            </a:extLst>
          </p:cNvPr>
          <p:cNvSpPr/>
          <p:nvPr/>
        </p:nvSpPr>
        <p:spPr>
          <a:xfrm>
            <a:off x="3556000" y="1524000"/>
            <a:ext cx="10160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CA1410-1310-9F59-D5ED-1E77D6052B48}"/>
              </a:ext>
            </a:extLst>
          </p:cNvPr>
          <p:cNvSpPr/>
          <p:nvPr/>
        </p:nvSpPr>
        <p:spPr>
          <a:xfrm>
            <a:off x="3937000" y="1905000"/>
            <a:ext cx="2286000" cy="5715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B756451-767B-E1AC-327A-BADDF70D1006}"/>
              </a:ext>
            </a:extLst>
          </p:cNvPr>
          <p:cNvSpPr txBox="1"/>
          <p:nvPr/>
        </p:nvSpPr>
        <p:spPr>
          <a:xfrm>
            <a:off x="4064000" y="2032000"/>
            <a:ext cx="203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400">
                <a:solidFill>
                  <a:srgbClr val="475569"/>
                </a:solidFill>
                <a:latin typeface="Segoe UI" panose="020B0502040204020203" pitchFamily="34" charset="0"/>
              </a:rPr>
              <a:t>Buscar por Ficha ?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EDDD641-5AEE-87A2-28AB-4980F6EC4241}"/>
              </a:ext>
            </a:extLst>
          </p:cNvPr>
          <p:cNvSpPr/>
          <p:nvPr/>
        </p:nvSpPr>
        <p:spPr>
          <a:xfrm>
            <a:off x="6477000" y="1905000"/>
            <a:ext cx="5080000" cy="5715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785E02-54CB-CA68-B84B-D1D2B3213354}"/>
              </a:ext>
            </a:extLst>
          </p:cNvPr>
          <p:cNvSpPr txBox="1"/>
          <p:nvPr/>
        </p:nvSpPr>
        <p:spPr>
          <a:xfrm>
            <a:off x="6604000" y="2032000"/>
            <a:ext cx="444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>
                <a:solidFill>
                  <a:srgbClr val="0F172A"/>
                </a:solidFill>
                <a:latin typeface="Segoe UI" panose="020B0502040204020203" pitchFamily="34" charset="0"/>
              </a:rPr>
              <a:t>255890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3969FDC-3B64-202E-8381-C535D880CEF6}"/>
              </a:ext>
            </a:extLst>
          </p:cNvPr>
          <p:cNvSpPr/>
          <p:nvPr/>
        </p:nvSpPr>
        <p:spPr>
          <a:xfrm>
            <a:off x="11811000" y="1905000"/>
            <a:ext cx="1524000" cy="5715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3C5D6D-0A07-4468-F3EC-6C986E786C1C}"/>
              </a:ext>
            </a:extLst>
          </p:cNvPr>
          <p:cNvSpPr txBox="1"/>
          <p:nvPr/>
        </p:nvSpPr>
        <p:spPr>
          <a:xfrm>
            <a:off x="11811000" y="2032000"/>
            <a:ext cx="152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1400" b="1">
                <a:solidFill>
                  <a:srgbClr val="FFFFFF"/>
                </a:solidFill>
                <a:latin typeface="Segoe UI" panose="020B0502040204020203" pitchFamily="34" charset="0"/>
              </a:rPr>
              <a:t>Consultar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CC444BB-0E19-568D-3FFD-27337D57EC0E}"/>
              </a:ext>
            </a:extLst>
          </p:cNvPr>
          <p:cNvSpPr/>
          <p:nvPr/>
        </p:nvSpPr>
        <p:spPr>
          <a:xfrm>
            <a:off x="2286000" y="3175000"/>
            <a:ext cx="12700000" cy="584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63500" dist="37357" dir="2700000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408238C-537F-17B3-4A50-DB255CA3DA38}"/>
              </a:ext>
            </a:extLst>
          </p:cNvPr>
          <p:cNvSpPr txBox="1"/>
          <p:nvPr/>
        </p:nvSpPr>
        <p:spPr>
          <a:xfrm>
            <a:off x="2667000" y="3429000"/>
            <a:ext cx="889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200" b="1">
                <a:solidFill>
                  <a:srgbClr val="0F172A"/>
                </a:solidFill>
                <a:latin typeface="Segoe UI" panose="020B0502040204020203" pitchFamily="34" charset="0"/>
              </a:rPr>
              <a:t>Horario Semanal: Ficha 255890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BE15E8-00C0-4348-73A6-AB361B2AC91B}"/>
              </a:ext>
            </a:extLst>
          </p:cNvPr>
          <p:cNvSpPr txBox="1"/>
          <p:nvPr/>
        </p:nvSpPr>
        <p:spPr>
          <a:xfrm>
            <a:off x="2667000" y="3937000"/>
            <a:ext cx="889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>
                <a:solidFill>
                  <a:srgbClr val="64748B"/>
                </a:solidFill>
                <a:latin typeface="Segoe UI" panose="020B0502040204020203" pitchFamily="34" charset="0"/>
              </a:rPr>
              <a:t>Programa: Análisis y Desarrollo de Software (ADSO) | Jornada: Diurna</a:t>
            </a:r>
            <a:endParaRPr lang="es-CO" sz="14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14C200A-3198-EFBD-3877-47ABD0B79D4A}"/>
              </a:ext>
            </a:extLst>
          </p:cNvPr>
          <p:cNvSpPr/>
          <p:nvPr/>
        </p:nvSpPr>
        <p:spPr>
          <a:xfrm>
            <a:off x="11684000" y="3556000"/>
            <a:ext cx="2921000" cy="38100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E210A60-3A8D-5486-58D5-D00A13AEFF10}"/>
              </a:ext>
            </a:extLst>
          </p:cNvPr>
          <p:cNvSpPr txBox="1"/>
          <p:nvPr/>
        </p:nvSpPr>
        <p:spPr>
          <a:xfrm>
            <a:off x="11811000" y="3619500"/>
            <a:ext cx="279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1100">
                <a:solidFill>
                  <a:srgbClr val="166534"/>
                </a:solidFill>
                <a:latin typeface="Segoe UI" panose="020B0502040204020203" pitchFamily="34" charset="0"/>
              </a:rPr>
              <a:t>? Actualizado: Hoy, 07:45 AM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B7910D3-C4E1-FACD-EDAF-1612073F3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84587"/>
              </p:ext>
            </p:extLst>
          </p:nvPr>
        </p:nvGraphicFramePr>
        <p:xfrm>
          <a:off x="2667000" y="4572000"/>
          <a:ext cx="11938002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67">
                  <a:extLst>
                    <a:ext uri="{9D8B030D-6E8A-4147-A177-3AD203B41FA5}">
                      <a16:colId xmlns:a16="http://schemas.microsoft.com/office/drawing/2014/main" val="3796375459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3441215991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1042104228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3355535211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1557032608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1511332489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  <a:latin typeface="Segoe UI" panose="020B0502040204020203" pitchFamily="34" charset="0"/>
                        </a:rPr>
                        <a:t>Hora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  <a:latin typeface="Segoe UI" panose="020B0502040204020203" pitchFamily="34" charset="0"/>
                        </a:rPr>
                        <a:t>Lunes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  <a:latin typeface="Segoe UI" panose="020B0502040204020203" pitchFamily="34" charset="0"/>
                        </a:rPr>
                        <a:t>Martes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  <a:latin typeface="Segoe UI" panose="020B0502040204020203" pitchFamily="34" charset="0"/>
                        </a:rPr>
                        <a:t>Miércoles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  <a:latin typeface="Segoe UI" panose="020B0502040204020203" pitchFamily="34" charset="0"/>
                        </a:rPr>
                        <a:t>Jueves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rgbClr val="475569"/>
                          </a:solidFill>
                          <a:latin typeface="Segoe UI" panose="020B0502040204020203" pitchFamily="34" charset="0"/>
                        </a:rPr>
                        <a:t>Viernes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07269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CO" sz="1200" b="1">
                          <a:solidFill>
                            <a:srgbClr val="64748B"/>
                          </a:solidFill>
                          <a:latin typeface="Segoe UI" panose="020B0502040204020203" pitchFamily="34" charset="0"/>
                        </a:rPr>
                        <a:t>06:00 - 12:00</a:t>
                      </a:r>
                    </a:p>
                    <a:p>
                      <a:r>
                        <a:rPr lang="es-CO" sz="1200" b="1">
                          <a:solidFill>
                            <a:srgbClr val="64748B"/>
                          </a:solidFill>
                          <a:latin typeface="Segoe UI" panose="020B0502040204020203" pitchFamily="34" charset="0"/>
                        </a:rPr>
                        <a:t>(Bloque Mañana)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Competencia:</a:t>
                      </a:r>
                    </a:p>
                    <a:p>
                      <a:r>
                        <a:rPr lang="es-ES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Construcción de Software</a:t>
                      </a:r>
                    </a:p>
                    <a:p>
                      <a:endParaRPr lang="es-ES" sz="120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  <a:p>
                      <a:r>
                        <a:rPr lang="es-ES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Ambiente: Lab. Sistemas 1</a:t>
                      </a:r>
                    </a:p>
                    <a:p>
                      <a:r>
                        <a:rPr lang="es-ES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Instructor: Carlos Ruiz</a:t>
                      </a:r>
                      <a:endParaRPr lang="es-CO" sz="120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Competencia:</a:t>
                      </a:r>
                    </a:p>
                    <a:p>
                      <a:r>
                        <a:rPr lang="es-CO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Bilingüismo (Inglés)</a:t>
                      </a:r>
                    </a:p>
                    <a:p>
                      <a:endParaRPr lang="es-CO" sz="120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  <a:p>
                      <a:r>
                        <a:rPr lang="es-CO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Ambiente: Aula 301</a:t>
                      </a:r>
                    </a:p>
                    <a:p>
                      <a:r>
                        <a:rPr lang="es-CO" sz="120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Instructor: Diana Torres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>
                          <a:solidFill>
                            <a:srgbClr val="CBD5E1"/>
                          </a:solidFill>
                          <a:latin typeface="Segoe UI" panose="020B0502040204020203" pitchFamily="34" charset="0"/>
                        </a:rPr>
                        <a:t>Sin asignación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96098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CO" sz="1200" b="1">
                          <a:solidFill>
                            <a:srgbClr val="64748B"/>
                          </a:solidFill>
                          <a:latin typeface="Segoe UI" panose="020B0502040204020203" pitchFamily="34" charset="0"/>
                        </a:rPr>
                        <a:t>13:00 - 18:00</a:t>
                      </a:r>
                    </a:p>
                    <a:p>
                      <a:r>
                        <a:rPr lang="es-CO" sz="1200" b="1">
                          <a:solidFill>
                            <a:srgbClr val="64748B"/>
                          </a:solidFill>
                          <a:latin typeface="Segoe UI" panose="020B0502040204020203" pitchFamily="34" charset="0"/>
                        </a:rPr>
                        <a:t>(Bloque Tarde)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076379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s-CO" sz="1200" b="1">
                          <a:solidFill>
                            <a:srgbClr val="64748B"/>
                          </a:solidFill>
                          <a:latin typeface="Segoe UI" panose="020B0502040204020203" pitchFamily="34" charset="0"/>
                        </a:rPr>
                        <a:t>18:00 - 22:00</a:t>
                      </a:r>
                    </a:p>
                    <a:p>
                      <a:r>
                        <a:rPr lang="es-CO" sz="1200" b="1">
                          <a:solidFill>
                            <a:srgbClr val="64748B"/>
                          </a:solidFill>
                          <a:latin typeface="Segoe UI" panose="020B0502040204020203" pitchFamily="34" charset="0"/>
                        </a:rPr>
                        <a:t>(Bloque Noche)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26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025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389</Words>
  <Application>Microsoft Office PowerPoint</Application>
  <PresentationFormat>Panorámica</PresentationFormat>
  <Paragraphs>121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Julián Fierro</dc:creator>
  <cp:lastModifiedBy>Julián Fierro</cp:lastModifiedBy>
  <cp:revision>3</cp:revision>
  <dcterms:created xsi:type="dcterms:W3CDTF">2026-05-23T15:39:35Z</dcterms:created>
  <dcterms:modified xsi:type="dcterms:W3CDTF">2026-05-23T15:58:15Z</dcterms:modified>
</cp:coreProperties>
</file>