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61" r:id="rId2"/>
    <p:sldId id="256" r:id="rId3"/>
    <p:sldId id="257" r:id="rId4"/>
    <p:sldId id="258" r:id="rId5"/>
    <p:sldId id="259" r:id="rId6"/>
    <p:sldId id="260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1" d="100"/>
          <a:sy n="141" d="100"/>
        </p:scale>
        <p:origin x="74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16477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Bienvenidos. Hoy presentamos el PRJ-SENA-SCHEDULE, un sistema que transforma cómo el SENA gestiona sus horarios académicos. Somos un equipo de 5 roles complementarios: análisis, diseño, presentación y documentación. Empecemos por el problema que motivó este proyecto.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03520" cy="51435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O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411480" y="457200"/>
            <a:ext cx="1920240" cy="3200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411480" y="4572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1B4D"/>
                </a:solidFill>
              </a:rPr>
              <a:t>SENA · MAYO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96012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kern="0" spc="200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Proyecto-SENA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20040" y="1572768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Gestión de</a:t>
            </a:r>
            <a:endParaRPr lang="en-US" sz="1900" dirty="0"/>
          </a:p>
          <a:p>
            <a:pPr marL="0" indent="0" algn="l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Horarios Académicos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320040" y="254203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CADCFC"/>
                </a:solidFill>
              </a:rPr>
              <a:t>Del Excel al futuro digital · IEEE 830 · Arquitectura Hexagonal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7472" y="4078224"/>
            <a:ext cx="4480560" cy="36576"/>
          </a:xfrm>
          <a:prstGeom prst="rect">
            <a:avLst/>
          </a:prstGeom>
          <a:solidFill>
            <a:srgbClr val="8B9DC3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320040" y="3127248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20040" y="3822192"/>
            <a:ext cx="850392" cy="210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47472" y="3986784"/>
            <a:ext cx="795528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endParaRPr lang="en-US" sz="750" dirty="0"/>
          </a:p>
        </p:txBody>
      </p:sp>
      <p:sp>
        <p:nvSpPr>
          <p:cNvPr id="21" name="Text 17"/>
          <p:cNvSpPr/>
          <p:nvPr/>
        </p:nvSpPr>
        <p:spPr>
          <a:xfrm>
            <a:off x="1179576" y="3822192"/>
            <a:ext cx="850392" cy="210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1207008" y="3986784"/>
            <a:ext cx="795528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endParaRPr lang="en-US" sz="750" dirty="0"/>
          </a:p>
        </p:txBody>
      </p:sp>
      <p:sp>
        <p:nvSpPr>
          <p:cNvPr id="26" name="Text 21"/>
          <p:cNvSpPr/>
          <p:nvPr/>
        </p:nvSpPr>
        <p:spPr>
          <a:xfrm>
            <a:off x="2039112" y="3822192"/>
            <a:ext cx="850392" cy="210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2898648" y="3822192"/>
            <a:ext cx="850392" cy="210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2926080" y="3986784"/>
            <a:ext cx="795528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endParaRPr lang="en-US" sz="750" dirty="0"/>
          </a:p>
        </p:txBody>
      </p:sp>
      <p:sp>
        <p:nvSpPr>
          <p:cNvPr id="36" name="Text 29"/>
          <p:cNvSpPr/>
          <p:nvPr/>
        </p:nvSpPr>
        <p:spPr>
          <a:xfrm>
            <a:off x="3758184" y="3822192"/>
            <a:ext cx="850392" cy="210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37" name="Text 30"/>
          <p:cNvSpPr/>
          <p:nvPr/>
        </p:nvSpPr>
        <p:spPr>
          <a:xfrm>
            <a:off x="3785616" y="3986784"/>
            <a:ext cx="795528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endParaRPr lang="en-US" sz="750" dirty="0"/>
          </a:p>
        </p:txBody>
      </p:sp>
      <p:sp>
        <p:nvSpPr>
          <p:cNvPr id="38" name="Text 31"/>
          <p:cNvSpPr/>
          <p:nvPr/>
        </p:nvSpPr>
        <p:spPr>
          <a:xfrm>
            <a:off x="5669280" y="1371600"/>
            <a:ext cx="2926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0" dirty="0"/>
          </a:p>
        </p:txBody>
      </p:sp>
      <p:sp>
        <p:nvSpPr>
          <p:cNvPr id="39" name="Text 32"/>
          <p:cNvSpPr/>
          <p:nvPr/>
        </p:nvSpPr>
        <p:spPr>
          <a:xfrm>
            <a:off x="5669280" y="274320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228600" y="182880"/>
            <a:ext cx="502920" cy="50292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228600" y="182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68680" y="713232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académica al límite: Excel no es un sistema de información.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68680" y="1078992"/>
            <a:ext cx="8229600" cy="18288"/>
          </a:xfrm>
          <a:prstGeom prst="rect">
            <a:avLst/>
          </a:prstGeom>
          <a:solidFill>
            <a:srgbClr val="E63946">
              <a:alpha val="60000"/>
            </a:srgbClr>
          </a:solidFill>
          <a:ln w="12700">
            <a:solidFill>
              <a:srgbClr val="E6394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868680" y="1234440"/>
            <a:ext cx="2514600" cy="1600200"/>
          </a:xfrm>
          <a:prstGeom prst="rect">
            <a:avLst/>
          </a:prstGeom>
          <a:solidFill>
            <a:srgbClr val="162438"/>
          </a:solidFill>
          <a:ln w="19050">
            <a:solidFill>
              <a:srgbClr val="E6394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1344168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71600" y="13258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Cruces de Horario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78408" y="1709928"/>
            <a:ext cx="229514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Colisiones de instructores y ambientes sin detección automática. Cada error exige intervención manual.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657600" y="1234440"/>
            <a:ext cx="2514600" cy="1600200"/>
          </a:xfrm>
          <a:prstGeom prst="rect">
            <a:avLst/>
          </a:prstGeom>
          <a:solidFill>
            <a:srgbClr val="162438"/>
          </a:solidFill>
          <a:ln w="19050">
            <a:solidFill>
              <a:srgbClr val="E6394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7328" y="1344168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160520" y="13258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 de Excel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767328" y="1709928"/>
            <a:ext cx="229514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 dispersos sin control de versión. La información crítica depende de un solo coordinador.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6446520" y="1234440"/>
            <a:ext cx="2514600" cy="1600200"/>
          </a:xfrm>
          <a:prstGeom prst="rect">
            <a:avLst/>
          </a:prstGeom>
          <a:solidFill>
            <a:srgbClr val="162438"/>
          </a:solidFill>
          <a:ln w="19050">
            <a:solidFill>
              <a:srgbClr val="E6394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6248" y="1344168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949440" y="13258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Reprocesos Constantes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556248" y="1709928"/>
            <a:ext cx="229514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Horas-hombre perdidas en validación manual de disponibilidad: tiempo que debería ir a la pedagogía.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868680" y="3127248"/>
            <a:ext cx="2514600" cy="1600200"/>
          </a:xfrm>
          <a:prstGeom prst="rect">
            <a:avLst/>
          </a:prstGeom>
          <a:solidFill>
            <a:srgbClr val="162438"/>
          </a:solidFill>
          <a:ln w="19050">
            <a:solidFill>
              <a:srgbClr val="E6394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8408" y="3236976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71600" y="321868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Trazabilidad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978408" y="3602736"/>
            <a:ext cx="229514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 historial de cambios. Imposible auditar quién modificó qué y cuándo en la programación.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3657600" y="3127248"/>
            <a:ext cx="2514600" cy="1600200"/>
          </a:xfrm>
          <a:prstGeom prst="rect">
            <a:avLst/>
          </a:prstGeom>
          <a:solidFill>
            <a:srgbClr val="162438"/>
          </a:solidFill>
          <a:ln w="19050">
            <a:solidFill>
              <a:srgbClr val="E6394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67328" y="3236976"/>
            <a:ext cx="320040" cy="32004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160520" y="321868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Obsoleta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3767328" y="3602736"/>
            <a:ext cx="229514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Aprendices e instructores consultan horarios desactualizados, generando confusión y retrasos.</a:t>
            </a:r>
            <a:endParaRPr lang="en-US" sz="900" dirty="0"/>
          </a:p>
        </p:txBody>
      </p:sp>
      <p:sp>
        <p:nvSpPr>
          <p:cNvPr id="28" name="Shape 21"/>
          <p:cNvSpPr/>
          <p:nvPr/>
        </p:nvSpPr>
        <p:spPr>
          <a:xfrm>
            <a:off x="6446520" y="3127248"/>
            <a:ext cx="2514600" cy="1600200"/>
          </a:xfrm>
          <a:prstGeom prst="rect">
            <a:avLst/>
          </a:prstGeom>
          <a:solidFill>
            <a:srgbClr val="162438"/>
          </a:solidFill>
          <a:ln w="19050">
            <a:solidFill>
              <a:srgbClr val="E6394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6248" y="3236976"/>
            <a:ext cx="320040" cy="32004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6949440" y="321868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Desoptimizados</a:t>
            </a:r>
            <a:endParaRPr lang="en-US" sz="1100" dirty="0"/>
          </a:p>
        </p:txBody>
      </p:sp>
      <p:sp>
        <p:nvSpPr>
          <p:cNvPr id="31" name="Text 23"/>
          <p:cNvSpPr/>
          <p:nvPr/>
        </p:nvSpPr>
        <p:spPr>
          <a:xfrm>
            <a:off x="6556248" y="3602736"/>
            <a:ext cx="229514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Doble asignación de aulas y laboratorios. Sin visibilidad centralizada, la infraestructura se subutiliza.</a:t>
            </a:r>
            <a:endParaRPr lang="en-US" sz="900" dirty="0"/>
          </a:p>
        </p:txBody>
      </p:sp>
      <p:sp>
        <p:nvSpPr>
          <p:cNvPr id="32" name="Shape 24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E63946">
              <a:alpha val="15000"/>
            </a:srgbClr>
          </a:solidFill>
          <a:ln w="12700">
            <a:solidFill>
              <a:srgbClr val="E63946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Text 25"/>
          <p:cNvSpPr/>
          <p:nvPr/>
        </p:nvSpPr>
        <p:spPr>
          <a:xfrm>
            <a:off x="182880" y="4828032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Crisis Operativa Activa  •  SENA Centro de Formación  •  Sistema de Gestión de Horarios Académicos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228600" y="182880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228600" y="182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68680" y="713232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centralizada + validación automatizada = cero conflictos de horario.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68680" y="1078992"/>
            <a:ext cx="8229600" cy="18288"/>
          </a:xfrm>
          <a:prstGeom prst="rect">
            <a:avLst/>
          </a:prstGeom>
          <a:solidFill>
            <a:srgbClr val="00B4D8">
              <a:alpha val="60000"/>
            </a:srgbClr>
          </a:solidFill>
          <a:ln w="12700">
            <a:solidFill>
              <a:srgbClr val="00B4D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868680" y="1188720"/>
            <a:ext cx="36576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1051560" y="120700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Cliente-Servidor Web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51560" y="1499616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multiplataforma desde navegador. Un único repositorio centralizado elimina la fragmentación de archivos Excel.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68680" y="2075688"/>
            <a:ext cx="36576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1051560" y="209397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Validación Asíncrona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51560" y="2386584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en tiempo real de cruces de horario, doble asignación y solapamientos antes de confirmar cualquier cambio.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68680" y="2962656"/>
            <a:ext cx="36576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1051560" y="298094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 Referencial de Datos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51560" y="327355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relacional con restricciones de BD: ningún registro puede quedar huérfano ni generar conflicto de llave primaria.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68680" y="3849624"/>
            <a:ext cx="36576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1051560" y="386791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 IEEE 830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51560" y="41605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Especificación formal de requisitos de software. Garantiza trazabilidad entre necesidades del usuario y funcionalidades implementadas.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349240" y="1170432"/>
            <a:ext cx="3474720" cy="3611880"/>
          </a:xfrm>
          <a:prstGeom prst="rect">
            <a:avLst/>
          </a:prstGeom>
          <a:solidFill>
            <a:srgbClr val="162438"/>
          </a:solidFill>
          <a:ln w="19050">
            <a:solidFill>
              <a:srgbClr val="0096C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5349240" y="1170432"/>
            <a:ext cx="3474720" cy="384048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5349240" y="1170432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TECNOLÓGICO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40680" y="1691640"/>
            <a:ext cx="1188720" cy="301752"/>
          </a:xfrm>
          <a:prstGeom prst="rect">
            <a:avLst/>
          </a:prstGeom>
          <a:solidFill>
            <a:srgbClr val="1A2F4A"/>
          </a:solidFill>
          <a:ln w="1016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5440680" y="1691640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720840" y="1691640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/ CSS3 / JavaScript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40680" y="2176272"/>
            <a:ext cx="1188720" cy="301752"/>
          </a:xfrm>
          <a:prstGeom prst="rect">
            <a:avLst/>
          </a:prstGeom>
          <a:solidFill>
            <a:srgbClr val="1A2F4A"/>
          </a:solidFill>
          <a:ln w="1016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5440680" y="2176272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720840" y="2176272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/ Python (MVC)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40680" y="2660904"/>
            <a:ext cx="1188720" cy="301752"/>
          </a:xfrm>
          <a:prstGeom prst="rect">
            <a:avLst/>
          </a:prstGeom>
          <a:solidFill>
            <a:srgbClr val="1A2F4A"/>
          </a:solidFill>
          <a:ln w="1016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5440680" y="2660904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720840" y="2660904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— Modelo Relacional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440680" y="3145536"/>
            <a:ext cx="1188720" cy="301752"/>
          </a:xfrm>
          <a:prstGeom prst="rect">
            <a:avLst/>
          </a:prstGeom>
          <a:solidFill>
            <a:srgbClr val="1A2F4A"/>
          </a:solidFill>
          <a:ln w="1016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Text 31"/>
          <p:cNvSpPr/>
          <p:nvPr/>
        </p:nvSpPr>
        <p:spPr>
          <a:xfrm>
            <a:off x="5440680" y="3145536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Validaciones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720840" y="3145536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AJAX + JSON Asíncrono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440680" y="3630168"/>
            <a:ext cx="1188720" cy="301752"/>
          </a:xfrm>
          <a:prstGeom prst="rect">
            <a:avLst/>
          </a:prstGeom>
          <a:solidFill>
            <a:srgbClr val="1A2F4A"/>
          </a:solidFill>
          <a:ln w="1016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Text 34"/>
          <p:cNvSpPr/>
          <p:nvPr/>
        </p:nvSpPr>
        <p:spPr>
          <a:xfrm>
            <a:off x="5440680" y="3630168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720840" y="3630168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830 SRS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440680" y="4114800"/>
            <a:ext cx="1188720" cy="301752"/>
          </a:xfrm>
          <a:prstGeom prst="rect">
            <a:avLst/>
          </a:prstGeom>
          <a:solidFill>
            <a:srgbClr val="1A2F4A"/>
          </a:solidFill>
          <a:ln w="1016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9" name="Text 37"/>
          <p:cNvSpPr/>
          <p:nvPr/>
        </p:nvSpPr>
        <p:spPr>
          <a:xfrm>
            <a:off x="5440680" y="4114800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Acceso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720840" y="4114800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Roles: Admin / Coord / Instructor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0B4D8">
              <a:alpha val="10000"/>
            </a:srgbClr>
          </a:solidFill>
          <a:ln w="12700">
            <a:solidFill>
              <a:srgbClr val="00B4D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2" name="Text 40"/>
          <p:cNvSpPr/>
          <p:nvPr/>
        </p:nvSpPr>
        <p:spPr>
          <a:xfrm>
            <a:off x="182880" y="4828032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Web Centralizado  •  Validación en Tiempo Real  •  Acceso por Roles  •  Documentado en IEEE 830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228600" y="182880"/>
            <a:ext cx="502920" cy="50292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228600" y="182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VALOR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68680" y="713232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solo un software: es la infraestructura que el SENA necesitaba y nunca tuvo.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68680" y="1078992"/>
            <a:ext cx="8229600" cy="18288"/>
          </a:xfrm>
          <a:prstGeom prst="rect">
            <a:avLst/>
          </a:prstGeom>
          <a:solidFill>
            <a:srgbClr val="2EC4B6">
              <a:alpha val="60000"/>
            </a:srgbClr>
          </a:solidFill>
          <a:ln w="12700">
            <a:solidFill>
              <a:srgbClr val="2EC4B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868680" y="1188720"/>
            <a:ext cx="3931920" cy="1508760"/>
          </a:xfrm>
          <a:prstGeom prst="rect">
            <a:avLst/>
          </a:prstGeom>
          <a:solidFill>
            <a:srgbClr val="162438"/>
          </a:solidFill>
          <a:ln w="19050">
            <a:solidFill>
              <a:srgbClr val="2EC4B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325880"/>
            <a:ext cx="384048" cy="3840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90472" y="129844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 Tolerancia a Conflictos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05840" y="1737360"/>
            <a:ext cx="36576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bloquea asignaciones que generen cruces antes de guardar. Validación asíncrona en cada transacción: imposible crear un horario inválido.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047488" y="1188720"/>
            <a:ext cx="3931920" cy="1508760"/>
          </a:xfrm>
          <a:prstGeom prst="rect">
            <a:avLst/>
          </a:prstGeom>
          <a:solidFill>
            <a:srgbClr val="162438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4648" y="1325880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69280" y="129844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Única de Verdad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184648" y="1737360"/>
            <a:ext cx="36576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repositorio relacional reemplaza docenas de archivos Excel. Cualquier actor del proceso consulta la misma versión actualizada en tiempo real.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868680" y="2852928"/>
            <a:ext cx="3931920" cy="1508760"/>
          </a:xfrm>
          <a:prstGeom prst="rect">
            <a:avLst/>
          </a:prstGeom>
          <a:solidFill>
            <a:srgbClr val="162438"/>
          </a:solidFill>
          <a:ln w="19050">
            <a:solidFill>
              <a:srgbClr val="FF9F1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2990088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90472" y="2962656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Basadas en Datos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1005840" y="3401568"/>
            <a:ext cx="36576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automáticos de ocupación de ambientes, carga horaria por instructor y cobertura de fichas. Del caos operativo al tablero ejecutivo.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5047488" y="2852928"/>
            <a:ext cx="3931920" cy="1508760"/>
          </a:xfrm>
          <a:prstGeom prst="rect">
            <a:avLst/>
          </a:prstGeom>
          <a:solidFill>
            <a:srgbClr val="162438"/>
          </a:solidFill>
          <a:ln w="19050">
            <a:solidFill>
              <a:srgbClr val="0096C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84648" y="2990088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669280" y="2962656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 Institucional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5184648" y="3401568"/>
            <a:ext cx="36576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MVC sobre servidor web: añadir nuevas sedes, instructores o programas no requiere rediseño. Crece con el SENA.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2EC4B6">
              <a:alpha val="10000"/>
            </a:srgbClr>
          </a:solidFill>
          <a:ln w="12700">
            <a:solidFill>
              <a:srgbClr val="2EC4B6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19"/>
          <p:cNvSpPr/>
          <p:nvPr/>
        </p:nvSpPr>
        <p:spPr>
          <a:xfrm>
            <a:off x="182880" y="4828032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Diferenciación Competitiva  •  Solución a Medida del SENA  •  Reducción de Reprocesos  •  Trazabilidad Total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228600" y="182880"/>
            <a:ext cx="502920" cy="50292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228600" y="182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04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 Y ROI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68680" y="713232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costo real no es implementar el sistema: es seguir sin él.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68680" y="1078992"/>
            <a:ext cx="8229600" cy="18288"/>
          </a:xfrm>
          <a:prstGeom prst="rect">
            <a:avLst/>
          </a:prstGeom>
          <a:solidFill>
            <a:srgbClr val="FF9F1C">
              <a:alpha val="60000"/>
            </a:srgbClr>
          </a:solidFill>
          <a:ln w="12700">
            <a:solidFill>
              <a:srgbClr val="FF9F1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868680" y="1170432"/>
            <a:ext cx="4846320" cy="347472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868680" y="1170432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DEL PROYECTO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1536192"/>
          <a:ext cx="4846320" cy="256032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Recurso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Costo Estimado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Equipo de desarrollo (5 est.)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Tiempo / Talento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Costo oportunidad académica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Servidor de hosting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Tecnológico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~$0 (localhost / GitHub Pages)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Licencias de software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Tecnológico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 (Stack Open Source)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Herramientas de diseño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Figma Free / draw.io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Documentación IEEE 830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Intelectual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Incluida en el proyecto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Testing y QA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Pruebas internas del equipo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989320" y="1170432"/>
            <a:ext cx="1371600" cy="1207008"/>
          </a:xfrm>
          <a:prstGeom prst="rect">
            <a:avLst/>
          </a:prstGeom>
          <a:solidFill>
            <a:srgbClr val="162438"/>
          </a:solidFill>
          <a:ln w="19050">
            <a:solidFill>
              <a:srgbClr val="E63946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2" name="Text 9"/>
          <p:cNvSpPr/>
          <p:nvPr/>
        </p:nvSpPr>
        <p:spPr>
          <a:xfrm>
            <a:off x="5989320" y="1243584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~3h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6062472" y="1764792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diarias en validación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por coordinador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7571232" y="1170432"/>
            <a:ext cx="1371600" cy="1207008"/>
          </a:xfrm>
          <a:prstGeom prst="rect">
            <a:avLst/>
          </a:prstGeom>
          <a:solidFill>
            <a:srgbClr val="162438"/>
          </a:solidFill>
          <a:ln w="19050">
            <a:solidFill>
              <a:srgbClr val="FF9F1C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Text 12"/>
          <p:cNvSpPr/>
          <p:nvPr/>
        </p:nvSpPr>
        <p:spPr>
          <a:xfrm>
            <a:off x="7571232" y="1243584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7644384" y="1764792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de horario sin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ni corrección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5989320" y="2606040"/>
            <a:ext cx="1371600" cy="1207008"/>
          </a:xfrm>
          <a:prstGeom prst="rect">
            <a:avLst/>
          </a:prstGeom>
          <a:solidFill>
            <a:srgbClr val="162438"/>
          </a:solidFill>
          <a:ln w="19050">
            <a:solidFill>
              <a:srgbClr val="2EC4B6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8" name="Text 15"/>
          <p:cNvSpPr/>
          <p:nvPr/>
        </p:nvSpPr>
        <p:spPr>
          <a:xfrm>
            <a:off x="5989320" y="2679192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6062472" y="320040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 directa: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100% open source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7571232" y="2606040"/>
            <a:ext cx="1371600" cy="1207008"/>
          </a:xfrm>
          <a:prstGeom prst="rect">
            <a:avLst/>
          </a:prstGeom>
          <a:solidFill>
            <a:srgbClr val="162438"/>
          </a:solidFill>
          <a:ln w="19050">
            <a:solidFill>
              <a:srgbClr val="00B4D8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1" name="Text 18"/>
          <p:cNvSpPr/>
          <p:nvPr/>
        </p:nvSpPr>
        <p:spPr>
          <a:xfrm>
            <a:off x="7571232" y="2679192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+80%</a:t>
            </a:r>
            <a:endParaRPr lang="en-US" sz="2600" dirty="0"/>
          </a:p>
        </p:txBody>
      </p:sp>
      <p:sp>
        <p:nvSpPr>
          <p:cNvPr id="22" name="Text 19"/>
          <p:cNvSpPr/>
          <p:nvPr/>
        </p:nvSpPr>
        <p:spPr>
          <a:xfrm>
            <a:off x="7644384" y="320040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ahorro de tiempo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estimado post-implementación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5989320" y="3977640"/>
            <a:ext cx="2962656" cy="658368"/>
          </a:xfrm>
          <a:prstGeom prst="rect">
            <a:avLst/>
          </a:prstGeom>
          <a:solidFill>
            <a:srgbClr val="1A2F4A"/>
          </a:solidFill>
          <a:ln w="19050">
            <a:solidFill>
              <a:srgbClr val="FF9F1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1"/>
          <p:cNvSpPr/>
          <p:nvPr/>
        </p:nvSpPr>
        <p:spPr>
          <a:xfrm>
            <a:off x="6080760" y="4005072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Costo de Oportunidad: Cada semana sin el sistema = horas perdidas que no se recuperan. La solución es gratuita en infraestructura; su valor es el tiempo devuelto.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FF9F1C">
              <a:alpha val="10000"/>
            </a:srgbClr>
          </a:solidFill>
          <a:ln w="12700">
            <a:solidFill>
              <a:srgbClr val="FF9F1C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3"/>
          <p:cNvSpPr/>
          <p:nvPr/>
        </p:nvSpPr>
        <p:spPr>
          <a:xfrm>
            <a:off x="182880" y="4828032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 en Talento  •  Stack Open Source  •  ROI en Eficiencia Operativa  •  Costo Cero en Infraestructura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228600" y="182880"/>
            <a:ext cx="502920" cy="502920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228600" y="182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TRABAJO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68680" y="713232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iterativa: de los requisitos al despliegue en 4 fases controladas.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68680" y="1078992"/>
            <a:ext cx="8229600" cy="18288"/>
          </a:xfrm>
          <a:prstGeom prst="rect">
            <a:avLst/>
          </a:prstGeom>
          <a:solidFill>
            <a:srgbClr val="7B2FBE">
              <a:alpha val="60000"/>
            </a:srgbClr>
          </a:solidFill>
          <a:ln w="12700">
            <a:solidFill>
              <a:srgbClr val="7B2FB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1463040" y="2029968"/>
            <a:ext cx="6766560" cy="45720"/>
          </a:xfrm>
          <a:prstGeom prst="rect">
            <a:avLst/>
          </a:prstGeom>
          <a:solidFill>
            <a:srgbClr val="2A3F58"/>
          </a:solidFill>
          <a:ln w="12700">
            <a:solidFill>
              <a:srgbClr val="2A3F5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1371600" y="1755648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1371600" y="17556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F1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68680" y="2395728"/>
            <a:ext cx="1920240" cy="2267712"/>
          </a:xfrm>
          <a:prstGeom prst="rect">
            <a:avLst/>
          </a:prstGeom>
          <a:solidFill>
            <a:srgbClr val="162438"/>
          </a:solidFill>
          <a:ln w="15240">
            <a:solidFill>
              <a:srgbClr val="00B4D8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868680" y="2395728"/>
            <a:ext cx="1920240" cy="274320"/>
          </a:xfrm>
          <a:prstGeom prst="rect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868680" y="240487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1–2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941832" y="274320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Requisitos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41832" y="3182112"/>
            <a:ext cx="178308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Levantamiento de necesidades con coordinadores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Especificación SRS en IEEE 830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 de casos de uso y actores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447288" y="1755648"/>
            <a:ext cx="502920" cy="50292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3447288" y="17556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F2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944368" y="2395728"/>
            <a:ext cx="1920240" cy="2267712"/>
          </a:xfrm>
          <a:prstGeom prst="rect">
            <a:avLst/>
          </a:prstGeom>
          <a:solidFill>
            <a:srgbClr val="162438"/>
          </a:solidFill>
          <a:ln w="15240">
            <a:solidFill>
              <a:srgbClr val="2EC4B6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2944368" y="2395728"/>
            <a:ext cx="1920240" cy="274320"/>
          </a:xfrm>
          <a:prstGeom prst="rect">
            <a:avLst/>
          </a:prstGeom>
          <a:solidFill>
            <a:srgbClr val="2EC4B6">
              <a:alpha val="25000"/>
            </a:srgbClr>
          </a:solidFill>
          <a:ln w="12700">
            <a:solidFill>
              <a:srgbClr val="2EC4B6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2944368" y="240487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3–4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017520" y="274320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y Arquitectura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017520" y="3182112"/>
            <a:ext cx="178308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BD relacional (MySQL)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Mockups UI/UX en Figma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arquitectura cliente-servidor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522976" y="1755648"/>
            <a:ext cx="502920" cy="50292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5522976" y="17556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F3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20056" y="2395728"/>
            <a:ext cx="1920240" cy="2267712"/>
          </a:xfrm>
          <a:prstGeom prst="rect">
            <a:avLst/>
          </a:prstGeom>
          <a:solidFill>
            <a:srgbClr val="162438"/>
          </a:solidFill>
          <a:ln w="15240">
            <a:solidFill>
              <a:srgbClr val="FF9F1C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6" name="Shape 24"/>
          <p:cNvSpPr/>
          <p:nvPr/>
        </p:nvSpPr>
        <p:spPr>
          <a:xfrm>
            <a:off x="5020056" y="2395728"/>
            <a:ext cx="1920240" cy="274320"/>
          </a:xfrm>
          <a:prstGeom prst="rect">
            <a:avLst/>
          </a:prstGeom>
          <a:solidFill>
            <a:srgbClr val="FF9F1C">
              <a:alpha val="25000"/>
            </a:srgbClr>
          </a:solidFill>
          <a:ln w="12700">
            <a:solidFill>
              <a:srgbClr val="FF9F1C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5020056" y="240487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5–8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093208" y="274320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e Integración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93208" y="3182112"/>
            <a:ext cx="178308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módulos CRUD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validación asíncrona (AJAX)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frontend-backend-BD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7598664" y="1755648"/>
            <a:ext cx="502920" cy="50292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/>
          <p:nvPr/>
        </p:nvSpPr>
        <p:spPr>
          <a:xfrm>
            <a:off x="7598664" y="17556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F4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095744" y="2395728"/>
            <a:ext cx="1920240" cy="2267712"/>
          </a:xfrm>
          <a:prstGeom prst="rect">
            <a:avLst/>
          </a:prstGeom>
          <a:solidFill>
            <a:srgbClr val="162438"/>
          </a:solidFill>
          <a:ln w="15240">
            <a:solidFill>
              <a:srgbClr val="A855F7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3" name="Shape 31"/>
          <p:cNvSpPr/>
          <p:nvPr/>
        </p:nvSpPr>
        <p:spPr>
          <a:xfrm>
            <a:off x="7095744" y="2395728"/>
            <a:ext cx="1920240" cy="274320"/>
          </a:xfrm>
          <a:prstGeom prst="rect">
            <a:avLst/>
          </a:prstGeom>
          <a:solidFill>
            <a:srgbClr val="A855F7">
              <a:alpha val="25000"/>
            </a:srgbClr>
          </a:solidFill>
          <a:ln w="12700">
            <a:solidFill>
              <a:srgbClr val="A855F7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Text 32"/>
          <p:cNvSpPr/>
          <p:nvPr/>
        </p:nvSpPr>
        <p:spPr>
          <a:xfrm>
            <a:off x="7095744" y="240487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9–10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168896" y="274320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y Entrega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168896" y="3182112"/>
            <a:ext cx="178308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funcional y de carga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Corrección de bugs críticos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y documentación final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868680" y="1188720"/>
            <a:ext cx="1920240" cy="438912"/>
          </a:xfrm>
          <a:prstGeom prst="rect">
            <a:avLst/>
          </a:prstGeom>
          <a:solidFill>
            <a:srgbClr val="7B2FBE">
              <a:alpha val="20000"/>
            </a:srgbClr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8" name="Text 36"/>
          <p:cNvSpPr/>
          <p:nvPr/>
        </p:nvSpPr>
        <p:spPr>
          <a:xfrm>
            <a:off x="868680" y="1188720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Metodología: Iterativa Incremental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926080" y="1188720"/>
            <a:ext cx="1920240" cy="438912"/>
          </a:xfrm>
          <a:prstGeom prst="rect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0" name="Text 38"/>
          <p:cNvSpPr/>
          <p:nvPr/>
        </p:nvSpPr>
        <p:spPr>
          <a:xfrm>
            <a:off x="2926080" y="1188720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Duración: 10 semanas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029200" y="1188720"/>
            <a:ext cx="1920240" cy="438912"/>
          </a:xfrm>
          <a:prstGeom prst="rect">
            <a:avLst/>
          </a:prstGeom>
          <a:solidFill>
            <a:srgbClr val="2EC4B6">
              <a:alpha val="15000"/>
            </a:srgbClr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2" name="Text 40"/>
          <p:cNvSpPr/>
          <p:nvPr/>
        </p:nvSpPr>
        <p:spPr>
          <a:xfrm>
            <a:off x="5029200" y="1188720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Equipo: 5 integrantes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7132320" y="1188720"/>
            <a:ext cx="1783080" cy="438912"/>
          </a:xfrm>
          <a:prstGeom prst="rect">
            <a:avLst/>
          </a:prstGeom>
          <a:solidFill>
            <a:srgbClr val="FF9F1C">
              <a:alpha val="15000"/>
            </a:srgbClr>
          </a:solidFill>
          <a:ln w="12700">
            <a:solidFill>
              <a:srgbClr val="FF9F1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4" name="Text 42"/>
          <p:cNvSpPr/>
          <p:nvPr/>
        </p:nvSpPr>
        <p:spPr>
          <a:xfrm>
            <a:off x="7132320" y="1188720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Entregable: Sistema Web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7B2FBE">
              <a:alpha val="10000"/>
            </a:srgbClr>
          </a:solidFill>
          <a:ln w="12700">
            <a:solidFill>
              <a:srgbClr val="7B2FBE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6" name="Text 44"/>
          <p:cNvSpPr/>
          <p:nvPr/>
        </p:nvSpPr>
        <p:spPr>
          <a:xfrm>
            <a:off x="182880" y="4828032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Fases  •  10 Semanas  •  Iterativo Incremental  •  IEEE 830  •  Equipo SENA 2025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805</Words>
  <Application>Microsoft Office PowerPoint</Application>
  <PresentationFormat>Presentación en pantalla (16:9)</PresentationFormat>
  <Paragraphs>136</Paragraphs>
  <Slides>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Arial</vt:lpstr>
      <vt:lpstr>Arial Black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Gestión de Horarios Académicos - SENA</dc:title>
  <dc:subject>PptxGenJS Presentation</dc:subject>
  <dc:creator>PptxGenJS</dc:creator>
  <cp:lastModifiedBy>100_952721708</cp:lastModifiedBy>
  <cp:revision>2</cp:revision>
  <dcterms:created xsi:type="dcterms:W3CDTF">2026-05-23T16:06:21Z</dcterms:created>
  <dcterms:modified xsi:type="dcterms:W3CDTF">2026-05-23T16:12:06Z</dcterms:modified>
</cp:coreProperties>
</file>